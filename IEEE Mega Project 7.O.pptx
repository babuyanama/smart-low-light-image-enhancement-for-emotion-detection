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192" r:id="rId1"/>
  </p:sldMasterIdLst>
  <p:notesMasterIdLst>
    <p:notesMasterId r:id="rId21"/>
  </p:notesMasterIdLst>
  <p:sldIdLst>
    <p:sldId id="256" r:id="rId2"/>
    <p:sldId id="257" r:id="rId3"/>
    <p:sldId id="258" r:id="rId4"/>
    <p:sldId id="259" r:id="rId5"/>
    <p:sldId id="260" r:id="rId6"/>
    <p:sldId id="262" r:id="rId7"/>
    <p:sldId id="263" r:id="rId8"/>
    <p:sldId id="264" r:id="rId9"/>
    <p:sldId id="268" r:id="rId10"/>
    <p:sldId id="269" r:id="rId11"/>
    <p:sldId id="286" r:id="rId12"/>
    <p:sldId id="287" r:id="rId13"/>
    <p:sldId id="270" r:id="rId14"/>
    <p:sldId id="288" r:id="rId15"/>
    <p:sldId id="285" r:id="rId16"/>
    <p:sldId id="280" r:id="rId17"/>
    <p:sldId id="281" r:id="rId18"/>
    <p:sldId id="282" r:id="rId19"/>
    <p:sldId id="28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icEZ3NUA0YY1UAUxKEwOerG/Iw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42FD62-2D95-49B5-AAF5-B657BEC087FE}">
  <a:tblStyle styleId="{2D42FD62-2D95-49B5-AAF5-B657BEC087FE}"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38"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5" name="Google Shape;30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FCD3E4-DEF0-45AA-90CC-B6C53F7BB344}" type="datetimeFigureOut">
              <a:rPr lang="en-IN" smtClean="0"/>
              <a:t>22-12-2024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8FA118B2-3693-48A4-A8E6-1A561E9F3561}" type="slidenum">
              <a:rPr lang="en-IN" smtClean="0"/>
              <a:t>‹#›</a:t>
            </a:fld>
            <a:endParaRPr lang="en-IN"/>
          </a:p>
        </p:txBody>
      </p:sp>
    </p:spTree>
    <p:extLst>
      <p:ext uri="{BB962C8B-B14F-4D97-AF65-F5344CB8AC3E}">
        <p14:creationId xmlns:p14="http://schemas.microsoft.com/office/powerpoint/2010/main" val="3058797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FCD3E4-DEF0-45AA-90CC-B6C53F7BB344}" type="datetimeFigureOut">
              <a:rPr lang="en-IN" smtClean="0"/>
              <a:t>22-12-2024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7433528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40FCD3E4-DEF0-45AA-90CC-B6C53F7BB344}" type="datetimeFigureOut">
              <a:rPr lang="en-IN" smtClean="0"/>
              <a:t>22-12-2024</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0891922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FCD3E4-DEF0-45AA-90CC-B6C53F7BB344}" type="datetimeFigureOut">
              <a:rPr lang="en-IN" smtClean="0"/>
              <a:t>22-12-2024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9972012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FCD3E4-DEF0-45AA-90CC-B6C53F7BB344}" type="datetimeFigureOut">
              <a:rPr lang="en-IN" smtClean="0"/>
              <a:t>22-12-2024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6537283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FCD3E4-DEF0-45AA-90CC-B6C53F7BB344}" type="datetimeFigureOut">
              <a:rPr lang="en-IN" smtClean="0"/>
              <a:t>22-12-2024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16341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FCD3E4-DEF0-45AA-90CC-B6C53F7BB344}" type="datetimeFigureOut">
              <a:rPr lang="en-IN" smtClean="0"/>
              <a:t>22-12-2024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87324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FCD3E4-DEF0-45AA-90CC-B6C53F7BB344}" type="datetimeFigureOut">
              <a:rPr lang="en-IN" smtClean="0"/>
              <a:t>22-12-2024</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3918131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FCD3E4-DEF0-45AA-90CC-B6C53F7BB344}" type="datetimeFigureOut">
              <a:rPr lang="en-IN" smtClean="0"/>
              <a:t>22-12-2024</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5333587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FCD3E4-DEF0-45AA-90CC-B6C53F7BB344}" type="datetimeFigureOut">
              <a:rPr lang="en-IN" smtClean="0"/>
              <a:t>22-12-2024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130607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FCD3E4-DEF0-45AA-90CC-B6C53F7BB344}" type="datetimeFigureOut">
              <a:rPr lang="en-IN" smtClean="0"/>
              <a:t>22-12-2024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520249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_1">
  <p:cSld name="Two Content_1">
    <p:spTree>
      <p:nvGrpSpPr>
        <p:cNvPr id="1" name="Shape 18"/>
        <p:cNvGrpSpPr/>
        <p:nvPr/>
      </p:nvGrpSpPr>
      <p:grpSpPr>
        <a:xfrm>
          <a:off x="0" y="0"/>
          <a:ext cx="0" cy="0"/>
          <a:chOff x="0" y="0"/>
          <a:chExt cx="0" cy="0"/>
        </a:xfrm>
      </p:grpSpPr>
      <p:sp>
        <p:nvSpPr>
          <p:cNvPr id="20" name="Google Shape;20;p31"/>
          <p:cNvSpPr txBox="1">
            <a:spLocks noGrp="1"/>
          </p:cNvSpPr>
          <p:nvPr>
            <p:ph type="title"/>
          </p:nvPr>
        </p:nvSpPr>
        <p:spPr>
          <a:xfrm>
            <a:off x="1097280" y="230332"/>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1" name="Google Shape;21;p31"/>
          <p:cNvSpPr txBox="1">
            <a:spLocks noGrp="1"/>
          </p:cNvSpPr>
          <p:nvPr>
            <p:ph type="body" idx="1"/>
          </p:nvPr>
        </p:nvSpPr>
        <p:spPr>
          <a:xfrm>
            <a:off x="1097280" y="2464540"/>
            <a:ext cx="10058400" cy="3748194"/>
          </a:xfrm>
          <a:prstGeom prst="rect">
            <a:avLst/>
          </a:prstGeom>
          <a:noFill/>
          <a:ln>
            <a:noFill/>
          </a:ln>
        </p:spPr>
        <p:txBody>
          <a:bodyPr spcFirstLastPara="1" wrap="square" lIns="0" tIns="45700" rIns="0" bIns="45700" anchor="t" anchorCtr="0">
            <a:noAutofit/>
          </a:bodyPr>
          <a:lstStyle>
            <a:lvl1pPr marL="457200" lvl="0" indent="-342900" algn="l">
              <a:spcBef>
                <a:spcPts val="1200"/>
              </a:spcBef>
              <a:spcAft>
                <a:spcPts val="0"/>
              </a:spcAft>
              <a:buSzPts val="1800"/>
              <a:buChar char=" "/>
              <a:defRPr/>
            </a:lvl1pPr>
            <a:lvl2pPr marL="914400" lvl="1" indent="-342900" algn="l">
              <a:spcBef>
                <a:spcPts val="200"/>
              </a:spcBef>
              <a:spcAft>
                <a:spcPts val="0"/>
              </a:spcAft>
              <a:buClr>
                <a:srgbClr val="404040"/>
              </a:buClr>
              <a:buSzPts val="1800"/>
              <a:buChar char="◦"/>
              <a:defRPr/>
            </a:lvl2pPr>
            <a:lvl3pPr marL="1371600" lvl="2" indent="-342900" algn="l">
              <a:spcBef>
                <a:spcPts val="400"/>
              </a:spcBef>
              <a:spcAft>
                <a:spcPts val="0"/>
              </a:spcAft>
              <a:buClr>
                <a:srgbClr val="404040"/>
              </a:buClr>
              <a:buSzPts val="1800"/>
              <a:buChar char="◦"/>
              <a:defRPr/>
            </a:lvl3pPr>
            <a:lvl4pPr marL="1828800" lvl="3" indent="-342900" algn="l">
              <a:spcBef>
                <a:spcPts val="400"/>
              </a:spcBef>
              <a:spcAft>
                <a:spcPts val="0"/>
              </a:spcAft>
              <a:buClr>
                <a:srgbClr val="404040"/>
              </a:buClr>
              <a:buSzPts val="1800"/>
              <a:buChar char="◦"/>
              <a:defRPr/>
            </a:lvl4pPr>
            <a:lvl5pPr marL="2286000" lvl="4" indent="-342900" algn="l">
              <a:spcBef>
                <a:spcPts val="400"/>
              </a:spcBef>
              <a:spcAft>
                <a:spcPts val="0"/>
              </a:spcAft>
              <a:buClr>
                <a:srgbClr val="404040"/>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2" name="Google Shape;22;p31"/>
          <p:cNvSpPr txBox="1">
            <a:spLocks noGrp="1"/>
          </p:cNvSpPr>
          <p:nvPr>
            <p:ph type="ftr" idx="11"/>
          </p:nvPr>
        </p:nvSpPr>
        <p:spPr>
          <a:xfrm>
            <a:off x="3468688" y="6473825"/>
            <a:ext cx="68183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1"/>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000" b="0" i="0" u="none" strike="noStrike" cap="none">
                <a:solidFill>
                  <a:srgbClr val="FFFFFF"/>
                </a:solidFill>
                <a:latin typeface="Calibri"/>
                <a:ea typeface="Calibri"/>
                <a:cs typeface="Calibri"/>
                <a:sym typeface="Calibri"/>
              </a:defRPr>
            </a:lvl1pPr>
            <a:lvl2pPr marL="0" marR="0" lvl="1" indent="0" algn="r">
              <a:spcBef>
                <a:spcPts val="0"/>
              </a:spcBef>
              <a:buNone/>
              <a:defRPr sz="1000" b="0" i="0" u="none" strike="noStrike" cap="none">
                <a:solidFill>
                  <a:srgbClr val="FFFFFF"/>
                </a:solidFill>
                <a:latin typeface="Calibri"/>
                <a:ea typeface="Calibri"/>
                <a:cs typeface="Calibri"/>
                <a:sym typeface="Calibri"/>
              </a:defRPr>
            </a:lvl2pPr>
            <a:lvl3pPr marL="0" marR="0" lvl="2" indent="0" algn="r">
              <a:spcBef>
                <a:spcPts val="0"/>
              </a:spcBef>
              <a:buNone/>
              <a:defRPr sz="1000" b="0" i="0" u="none" strike="noStrike" cap="none">
                <a:solidFill>
                  <a:srgbClr val="FFFFFF"/>
                </a:solidFill>
                <a:latin typeface="Calibri"/>
                <a:ea typeface="Calibri"/>
                <a:cs typeface="Calibri"/>
                <a:sym typeface="Calibri"/>
              </a:defRPr>
            </a:lvl3pPr>
            <a:lvl4pPr marL="0" marR="0" lvl="3" indent="0" algn="r">
              <a:spcBef>
                <a:spcPts val="0"/>
              </a:spcBef>
              <a:buNone/>
              <a:defRPr sz="1000" b="0" i="0" u="none" strike="noStrike" cap="none">
                <a:solidFill>
                  <a:srgbClr val="FFFFFF"/>
                </a:solidFill>
                <a:latin typeface="Calibri"/>
                <a:ea typeface="Calibri"/>
                <a:cs typeface="Calibri"/>
                <a:sym typeface="Calibri"/>
              </a:defRPr>
            </a:lvl4pPr>
            <a:lvl5pPr marL="0" marR="0" lvl="4" indent="0" algn="r">
              <a:spcBef>
                <a:spcPts val="0"/>
              </a:spcBef>
              <a:buNone/>
              <a:defRPr sz="1000" b="0" i="0" u="none" strike="noStrike" cap="none">
                <a:solidFill>
                  <a:srgbClr val="FFFFFF"/>
                </a:solidFill>
                <a:latin typeface="Calibri"/>
                <a:ea typeface="Calibri"/>
                <a:cs typeface="Calibri"/>
                <a:sym typeface="Calibri"/>
              </a:defRPr>
            </a:lvl5pPr>
            <a:lvl6pPr marL="0" marR="0" lvl="5" indent="0" algn="r">
              <a:spcBef>
                <a:spcPts val="0"/>
              </a:spcBef>
              <a:buNone/>
              <a:defRPr sz="1000" b="0" i="0" u="none" strike="noStrike" cap="none">
                <a:solidFill>
                  <a:srgbClr val="FFFFFF"/>
                </a:solidFill>
                <a:latin typeface="Calibri"/>
                <a:ea typeface="Calibri"/>
                <a:cs typeface="Calibri"/>
                <a:sym typeface="Calibri"/>
              </a:defRPr>
            </a:lvl6pPr>
            <a:lvl7pPr marL="0" marR="0" lvl="6" indent="0" algn="r">
              <a:spcBef>
                <a:spcPts val="0"/>
              </a:spcBef>
              <a:buNone/>
              <a:defRPr sz="1000" b="0" i="0" u="none" strike="noStrike" cap="none">
                <a:solidFill>
                  <a:srgbClr val="FFFFFF"/>
                </a:solidFill>
                <a:latin typeface="Calibri"/>
                <a:ea typeface="Calibri"/>
                <a:cs typeface="Calibri"/>
                <a:sym typeface="Calibri"/>
              </a:defRPr>
            </a:lvl7pPr>
            <a:lvl8pPr marL="0" marR="0" lvl="7" indent="0" algn="r">
              <a:spcBef>
                <a:spcPts val="0"/>
              </a:spcBef>
              <a:buNone/>
              <a:defRPr sz="1000" b="0" i="0" u="none" strike="noStrike" cap="none">
                <a:solidFill>
                  <a:srgbClr val="FFFFFF"/>
                </a:solidFill>
                <a:latin typeface="Calibri"/>
                <a:ea typeface="Calibri"/>
                <a:cs typeface="Calibri"/>
                <a:sym typeface="Calibri"/>
              </a:defRPr>
            </a:lvl8pPr>
            <a:lvl9pPr marL="0" marR="0" lvl="8" indent="0" algn="r">
              <a:spcBef>
                <a:spcPts val="0"/>
              </a:spcBef>
              <a:buNone/>
              <a:defRPr sz="10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21841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40FCD3E4-DEF0-45AA-90CC-B6C53F7BB344}" type="datetimeFigureOut">
              <a:rPr lang="en-IN" smtClean="0"/>
              <a:t>22-12-2024</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74783430"/>
      </p:ext>
    </p:extLst>
  </p:cSld>
  <p:clrMap bg1="lt1" tx1="dk1" bg2="lt2" tx2="dk2" accent1="accent1" accent2="accent2" accent3="accent3" accent4="accent4" accent5="accent5" accent6="accent6" hlink="hlink" folHlink="folHlink"/>
  <p:sldLayoutIdLst>
    <p:sldLayoutId id="2147484193" r:id="rId1"/>
    <p:sldLayoutId id="2147484194" r:id="rId2"/>
    <p:sldLayoutId id="2147484195" r:id="rId3"/>
    <p:sldLayoutId id="2147484196" r:id="rId4"/>
    <p:sldLayoutId id="2147484197" r:id="rId5"/>
    <p:sldLayoutId id="2147484198" r:id="rId6"/>
    <p:sldLayoutId id="2147484199" r:id="rId7"/>
    <p:sldLayoutId id="2147484200" r:id="rId8"/>
    <p:sldLayoutId id="2147484201" r:id="rId9"/>
    <p:sldLayoutId id="2147484202" r:id="rId10"/>
    <p:sldLayoutId id="2147484203" r:id="rId11"/>
    <p:sldLayoutId id="2147484204" r:id="rId12"/>
  </p:sldLayoutIdLst>
  <p:hf sldNum="0" hdr="0" ft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title"/>
          </p:nvPr>
        </p:nvSpPr>
        <p:spPr>
          <a:xfrm>
            <a:off x="497150" y="274320"/>
            <a:ext cx="11125891" cy="1450975"/>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None/>
            </a:pPr>
            <a:r>
              <a:rPr lang="en-US" sz="3600" dirty="0">
                <a:latin typeface="Times New Roman" panose="02020603050405020304" pitchFamily="18" charset="0"/>
                <a:cs typeface="Times New Roman" panose="02020603050405020304" pitchFamily="18" charset="0"/>
              </a:rPr>
              <a:t>Smart Low-Light Image Enhancement For   Emotion Detection</a:t>
            </a:r>
            <a:endParaRPr sz="3600" b="1" dirty="0">
              <a:latin typeface="Times New Roman" panose="02020603050405020304" pitchFamily="18" charset="0"/>
              <a:cs typeface="Times New Roman" panose="02020603050405020304" pitchFamily="18" charset="0"/>
            </a:endParaRPr>
          </a:p>
        </p:txBody>
      </p:sp>
      <p:sp>
        <p:nvSpPr>
          <p:cNvPr id="127" name="Google Shape;127;p1"/>
          <p:cNvSpPr txBox="1">
            <a:spLocks noGrp="1"/>
          </p:cNvSpPr>
          <p:nvPr>
            <p:ph type="body" idx="1"/>
          </p:nvPr>
        </p:nvSpPr>
        <p:spPr>
          <a:xfrm>
            <a:off x="206830" y="2351314"/>
            <a:ext cx="10948534" cy="3836761"/>
          </a:xfrm>
          <a:prstGeom prst="rect">
            <a:avLst/>
          </a:prstGeom>
          <a:noFill/>
          <a:ln>
            <a:noFill/>
          </a:ln>
        </p:spPr>
        <p:txBody>
          <a:bodyPr spcFirstLastPara="1" wrap="square" lIns="0" tIns="45700" rIns="0" bIns="45700" anchor="t" anchorCtr="0">
            <a:normAutofit/>
          </a:bodyPr>
          <a:lstStyle/>
          <a:p>
            <a:pPr marL="0" lvl="0" indent="0" algn="ctr" rtl="0">
              <a:spcBef>
                <a:spcPts val="1400"/>
              </a:spcBef>
              <a:spcAft>
                <a:spcPts val="0"/>
              </a:spcAft>
              <a:buSzPts val="2000"/>
              <a:buNone/>
            </a:pPr>
            <a:r>
              <a:rPr lang="en-US" b="1" dirty="0">
                <a:latin typeface="Times New Roman" panose="02020603050405020304" pitchFamily="18" charset="0"/>
                <a:cs typeface="Times New Roman" panose="02020603050405020304" pitchFamily="18" charset="0"/>
              </a:rPr>
              <a:t>TEAM MEMBERS-</a:t>
            </a:r>
          </a:p>
          <a:p>
            <a:pPr marL="0" lvl="0" indent="0" algn="ctr" rtl="0">
              <a:spcBef>
                <a:spcPts val="1400"/>
              </a:spcBef>
              <a:spcAft>
                <a:spcPts val="0"/>
              </a:spcAft>
              <a:buSzPts val="2000"/>
              <a:buNone/>
            </a:pPr>
            <a:r>
              <a:rPr lang="en-US" dirty="0">
                <a:latin typeface="Times New Roman" panose="02020603050405020304" pitchFamily="18" charset="0"/>
                <a:cs typeface="Times New Roman" panose="02020603050405020304" pitchFamily="18" charset="0"/>
              </a:rPr>
              <a:t>Y.SUDHEER BABU - 9921005181</a:t>
            </a:r>
          </a:p>
          <a:p>
            <a:pPr marL="0" lvl="0" indent="0" algn="ctr" rtl="0">
              <a:spcBef>
                <a:spcPts val="1400"/>
              </a:spcBef>
              <a:spcAft>
                <a:spcPts val="0"/>
              </a:spcAft>
              <a:buSzPts val="2000"/>
              <a:buNone/>
            </a:pPr>
            <a:r>
              <a:rPr lang="en-US" dirty="0">
                <a:latin typeface="Times New Roman" panose="02020603050405020304" pitchFamily="18" charset="0"/>
                <a:cs typeface="Times New Roman" panose="02020603050405020304" pitchFamily="18" charset="0"/>
              </a:rPr>
              <a:t>P.SASI VARDHAN REDDY - 9921005312</a:t>
            </a:r>
          </a:p>
          <a:p>
            <a:pPr marL="0" lvl="0" indent="0" algn="ctr" rtl="0">
              <a:spcBef>
                <a:spcPts val="1400"/>
              </a:spcBef>
              <a:spcAft>
                <a:spcPts val="0"/>
              </a:spcAft>
              <a:buSzPts val="2000"/>
              <a:buNone/>
            </a:pPr>
            <a:r>
              <a:rPr lang="en-US" dirty="0">
                <a:latin typeface="Times New Roman" panose="02020603050405020304" pitchFamily="18" charset="0"/>
                <a:cs typeface="Times New Roman" panose="02020603050405020304" pitchFamily="18" charset="0"/>
              </a:rPr>
              <a:t>N.TEJA - 9921005199</a:t>
            </a:r>
          </a:p>
          <a:p>
            <a:pPr marL="0" lvl="0" indent="0" algn="ctr" rtl="0">
              <a:spcBef>
                <a:spcPts val="1400"/>
              </a:spcBef>
              <a:spcAft>
                <a:spcPts val="0"/>
              </a:spcAft>
              <a:buSzPts val="2000"/>
              <a:buNone/>
            </a:pPr>
            <a:r>
              <a:rPr lang="en-US" dirty="0">
                <a:latin typeface="Times New Roman" panose="02020603050405020304" pitchFamily="18" charset="0"/>
                <a:cs typeface="Times New Roman" panose="02020603050405020304" pitchFamily="18" charset="0"/>
              </a:rPr>
              <a:t>P.JAGAN MOHAN REDDY - 9921005222</a:t>
            </a:r>
            <a:endParaRPr dirty="0">
              <a:latin typeface="Times New Roman" panose="02020603050405020304" pitchFamily="18" charset="0"/>
              <a:cs typeface="Times New Roman" panose="02020603050405020304" pitchFamily="18" charset="0"/>
            </a:endParaRPr>
          </a:p>
          <a:p>
            <a:pPr marL="0" lvl="0" indent="0" algn="l" rtl="0">
              <a:spcBef>
                <a:spcPts val="1400"/>
              </a:spcBef>
              <a:spcAft>
                <a:spcPts val="0"/>
              </a:spcAft>
              <a:buSzPts val="2000"/>
              <a:buNone/>
            </a:pPr>
            <a:endParaRPr dirty="0">
              <a:latin typeface="Times New Roman"/>
              <a:ea typeface="Times New Roman"/>
              <a:cs typeface="Times New Roman"/>
              <a:sym typeface="Times New Roman"/>
            </a:endParaRPr>
          </a:p>
          <a:p>
            <a:pPr marL="0" lvl="0" indent="0" algn="ctr" rtl="0">
              <a:spcBef>
                <a:spcPts val="1400"/>
              </a:spcBef>
              <a:spcAft>
                <a:spcPts val="0"/>
              </a:spcAft>
              <a:buSzPts val="2000"/>
              <a:buNone/>
            </a:pPr>
            <a:r>
              <a:rPr lang="en-US" dirty="0">
                <a:latin typeface="Times New Roman"/>
                <a:ea typeface="Times New Roman"/>
                <a:cs typeface="Times New Roman"/>
                <a:sym typeface="Times New Roman"/>
              </a:rPr>
              <a:t> </a:t>
            </a:r>
            <a:endParaRPr dirty="0"/>
          </a:p>
          <a:p>
            <a:pPr marL="90488" lvl="0" indent="0" algn="l" rtl="0">
              <a:spcBef>
                <a:spcPts val="1400"/>
              </a:spcBef>
              <a:spcAft>
                <a:spcPts val="0"/>
              </a:spcAft>
              <a:buSzPts val="2000"/>
              <a:buNone/>
            </a:pPr>
            <a:endParaRPr dirty="0"/>
          </a:p>
        </p:txBody>
      </p:sp>
      <p:sp>
        <p:nvSpPr>
          <p:cNvPr id="125" name="Google Shape;125;p1"/>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lvl="0"/>
            <a:r>
              <a:rPr lang="en-US" dirty="0">
                <a:solidFill>
                  <a:schemeClr val="bg1"/>
                </a:solidFill>
              </a:rPr>
              <a:t>KARE – CFP - </a:t>
            </a:r>
            <a:r>
              <a:rPr lang="en-US" b="0" i="0" dirty="0">
                <a:solidFill>
                  <a:schemeClr val="bg1"/>
                </a:solidFill>
                <a:effectLst/>
                <a:latin typeface="Google Sans"/>
              </a:rPr>
              <a:t>216ECE4220 -  </a:t>
            </a:r>
            <a:r>
              <a:rPr lang="en-US" dirty="0">
                <a:solidFill>
                  <a:schemeClr val="bg1"/>
                </a:solidFill>
              </a:rPr>
              <a:t>REVIEW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
          <p:cNvSpPr txBox="1">
            <a:spLocks noGrp="1"/>
          </p:cNvSpPr>
          <p:nvPr>
            <p:ph type="title"/>
          </p:nvPr>
        </p:nvSpPr>
        <p:spPr>
          <a:xfrm>
            <a:off x="1295400" y="974489"/>
            <a:ext cx="9601196" cy="77988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sz="3600" b="1" dirty="0">
                <a:latin typeface="Times New Roman"/>
                <a:ea typeface="Times New Roman"/>
                <a:cs typeface="Times New Roman"/>
                <a:sym typeface="Times New Roman"/>
              </a:rPr>
              <a:t>CONTENT</a:t>
            </a:r>
            <a:endParaRPr b="1" dirty="0"/>
          </a:p>
        </p:txBody>
      </p:sp>
      <p:sp>
        <p:nvSpPr>
          <p:cNvPr id="135" name="Google Shape;135;p2"/>
          <p:cNvSpPr txBox="1">
            <a:spLocks noGrp="1"/>
          </p:cNvSpPr>
          <p:nvPr>
            <p:ph idx="1"/>
          </p:nvPr>
        </p:nvSpPr>
        <p:spPr>
          <a:xfrm>
            <a:off x="1295400" y="1988288"/>
            <a:ext cx="9783763" cy="4568087"/>
          </a:xfrm>
          <a:prstGeom prst="rect">
            <a:avLst/>
          </a:prstGeom>
          <a:noFill/>
          <a:ln>
            <a:noFill/>
          </a:ln>
        </p:spPr>
        <p:txBody>
          <a:bodyPr spcFirstLastPara="1" wrap="square" lIns="0" tIns="45700" rIns="0" bIns="45700" anchor="t" anchorCtr="0">
            <a:noAutofit/>
          </a:bodyPr>
          <a:lstStyle/>
          <a:p>
            <a:pPr marL="285750" lvl="0" indent="-285750" algn="just" rtl="0">
              <a:spcBef>
                <a:spcPts val="0"/>
              </a:spcBef>
              <a:spcAft>
                <a:spcPts val="0"/>
              </a:spcAft>
              <a:buSzPts val="1400"/>
              <a:buFont typeface="Wingdings" panose="05000000000000000000" pitchFamily="2" charset="2"/>
              <a:buChar char="q"/>
            </a:pPr>
            <a:r>
              <a:rPr lang="en-US" sz="1400" b="1" dirty="0">
                <a:solidFill>
                  <a:schemeClr val="dk1"/>
                </a:solidFill>
                <a:latin typeface="Times New Roman" panose="02020603050405020304" pitchFamily="18" charset="0"/>
                <a:ea typeface="Times New Roman"/>
                <a:cs typeface="Times New Roman" panose="02020603050405020304" pitchFamily="18" charset="0"/>
                <a:sym typeface="Times New Roman"/>
              </a:rPr>
              <a:t>OBJECTIVE</a:t>
            </a:r>
            <a:endParaRPr b="1" dirty="0">
              <a:latin typeface="Times New Roman" panose="02020603050405020304" pitchFamily="18" charset="0"/>
              <a:cs typeface="Times New Roman" panose="02020603050405020304" pitchFamily="18" charset="0"/>
            </a:endParaRPr>
          </a:p>
          <a:p>
            <a:pPr marL="285750" lvl="0" indent="-285750" algn="just" rtl="0">
              <a:spcBef>
                <a:spcPts val="1400"/>
              </a:spcBef>
              <a:spcAft>
                <a:spcPts val="0"/>
              </a:spcAft>
              <a:buSzPts val="1400"/>
              <a:buFont typeface="Wingdings" panose="05000000000000000000" pitchFamily="2" charset="2"/>
              <a:buChar char="q"/>
            </a:pPr>
            <a:r>
              <a:rPr lang="en-US" sz="1400" b="1" dirty="0">
                <a:solidFill>
                  <a:schemeClr val="dk1"/>
                </a:solidFill>
                <a:latin typeface="Times New Roman" panose="02020603050405020304" pitchFamily="18" charset="0"/>
                <a:ea typeface="Times New Roman"/>
                <a:cs typeface="Times New Roman" panose="02020603050405020304" pitchFamily="18" charset="0"/>
                <a:sym typeface="Times New Roman"/>
              </a:rPr>
              <a:t>ABSTRACT</a:t>
            </a:r>
            <a:endParaRPr b="1" dirty="0">
              <a:latin typeface="Times New Roman" panose="02020603050405020304" pitchFamily="18" charset="0"/>
              <a:cs typeface="Times New Roman" panose="02020603050405020304" pitchFamily="18" charset="0"/>
            </a:endParaRPr>
          </a:p>
          <a:p>
            <a:pPr marL="285750" lvl="0" indent="-285750" algn="just" rtl="0">
              <a:spcBef>
                <a:spcPts val="1400"/>
              </a:spcBef>
              <a:spcAft>
                <a:spcPts val="0"/>
              </a:spcAft>
              <a:buSzPts val="1400"/>
              <a:buFont typeface="Wingdings" panose="05000000000000000000" pitchFamily="2" charset="2"/>
              <a:buChar char="q"/>
            </a:pPr>
            <a:r>
              <a:rPr lang="en-US" sz="1400" b="1" dirty="0">
                <a:solidFill>
                  <a:schemeClr val="dk1"/>
                </a:solidFill>
                <a:latin typeface="Times New Roman" panose="02020603050405020304" pitchFamily="18" charset="0"/>
                <a:ea typeface="Times New Roman"/>
                <a:cs typeface="Times New Roman" panose="02020603050405020304" pitchFamily="18" charset="0"/>
                <a:sym typeface="Times New Roman"/>
              </a:rPr>
              <a:t>INTRODUCTION </a:t>
            </a:r>
            <a:endParaRPr b="1" dirty="0">
              <a:latin typeface="Times New Roman" panose="02020603050405020304" pitchFamily="18" charset="0"/>
              <a:cs typeface="Times New Roman" panose="02020603050405020304" pitchFamily="18" charset="0"/>
            </a:endParaRPr>
          </a:p>
          <a:p>
            <a:pPr marL="285750" lvl="0" indent="-285750" algn="just" rtl="0">
              <a:spcBef>
                <a:spcPts val="1400"/>
              </a:spcBef>
              <a:spcAft>
                <a:spcPts val="0"/>
              </a:spcAft>
              <a:buSzPts val="1400"/>
              <a:buFont typeface="Wingdings" panose="05000000000000000000" pitchFamily="2" charset="2"/>
              <a:buChar char="q"/>
            </a:pPr>
            <a:r>
              <a:rPr lang="en-US" sz="1400" b="1" dirty="0">
                <a:solidFill>
                  <a:schemeClr val="dk1"/>
                </a:solidFill>
                <a:latin typeface="Times New Roman" panose="02020603050405020304" pitchFamily="18" charset="0"/>
                <a:ea typeface="Times New Roman"/>
                <a:cs typeface="Times New Roman" panose="02020603050405020304" pitchFamily="18" charset="0"/>
                <a:sym typeface="Times New Roman"/>
              </a:rPr>
              <a:t>LITERATURE SURVEY</a:t>
            </a:r>
            <a:endParaRPr b="1" dirty="0">
              <a:latin typeface="Times New Roman" panose="02020603050405020304" pitchFamily="18" charset="0"/>
              <a:cs typeface="Times New Roman" panose="02020603050405020304" pitchFamily="18" charset="0"/>
            </a:endParaRPr>
          </a:p>
          <a:p>
            <a:pPr marL="285750" lvl="0" indent="-285750" algn="just" rtl="0">
              <a:spcBef>
                <a:spcPts val="1400"/>
              </a:spcBef>
              <a:spcAft>
                <a:spcPts val="0"/>
              </a:spcAft>
              <a:buSzPts val="1400"/>
              <a:buFont typeface="Wingdings" panose="05000000000000000000" pitchFamily="2" charset="2"/>
              <a:buChar char="q"/>
            </a:pPr>
            <a:r>
              <a:rPr lang="en-US" sz="1400" b="1" dirty="0">
                <a:solidFill>
                  <a:schemeClr val="dk1"/>
                </a:solidFill>
                <a:latin typeface="Times New Roman" panose="02020603050405020304" pitchFamily="18" charset="0"/>
                <a:ea typeface="Times New Roman"/>
                <a:cs typeface="Times New Roman" panose="02020603050405020304" pitchFamily="18" charset="0"/>
                <a:sym typeface="Times New Roman"/>
              </a:rPr>
              <a:t>BLOCK DIAGRAM</a:t>
            </a:r>
          </a:p>
          <a:p>
            <a:pPr marL="285750" lvl="0" indent="-285750" algn="just" rtl="0">
              <a:spcBef>
                <a:spcPts val="1400"/>
              </a:spcBef>
              <a:spcAft>
                <a:spcPts val="0"/>
              </a:spcAft>
              <a:buSzPts val="1400"/>
              <a:buFont typeface="Wingdings" panose="05000000000000000000" pitchFamily="2" charset="2"/>
              <a:buChar char="q"/>
            </a:pPr>
            <a:r>
              <a:rPr lang="en-US" sz="1400" b="1" dirty="0">
                <a:solidFill>
                  <a:schemeClr val="dk1"/>
                </a:solidFill>
                <a:latin typeface="Times New Roman" panose="02020603050405020304" pitchFamily="18" charset="0"/>
                <a:ea typeface="Times New Roman"/>
                <a:cs typeface="Times New Roman" panose="02020603050405020304" pitchFamily="18" charset="0"/>
                <a:sym typeface="Times New Roman"/>
              </a:rPr>
              <a:t>PROBLEM STATEMENT</a:t>
            </a:r>
          </a:p>
          <a:p>
            <a:pPr marL="285750" lvl="0" indent="-285750" algn="just" rtl="0">
              <a:spcBef>
                <a:spcPts val="1400"/>
              </a:spcBef>
              <a:spcAft>
                <a:spcPts val="0"/>
              </a:spcAft>
              <a:buSzPts val="1400"/>
              <a:buFont typeface="Wingdings" panose="05000000000000000000" pitchFamily="2" charset="2"/>
              <a:buChar char="q"/>
            </a:pPr>
            <a:r>
              <a:rPr lang="en-US" sz="1500" b="1" dirty="0">
                <a:latin typeface="Times New Roman" panose="02020603050405020304" pitchFamily="18" charset="0"/>
                <a:cs typeface="Times New Roman" panose="02020603050405020304" pitchFamily="18" charset="0"/>
              </a:rPr>
              <a:t>SOFTWARE USED</a:t>
            </a:r>
          </a:p>
          <a:p>
            <a:pPr marL="285750" lvl="0" indent="-285750" algn="just" rtl="0">
              <a:spcBef>
                <a:spcPts val="1400"/>
              </a:spcBef>
              <a:spcAft>
                <a:spcPts val="0"/>
              </a:spcAft>
              <a:buSzPts val="1400"/>
              <a:buFont typeface="Wingdings" panose="05000000000000000000" pitchFamily="2" charset="2"/>
              <a:buChar char="q"/>
            </a:pPr>
            <a:r>
              <a:rPr lang="en-US" sz="1500" b="1" dirty="0">
                <a:latin typeface="Times New Roman" panose="02020603050405020304" pitchFamily="18" charset="0"/>
                <a:cs typeface="Times New Roman" panose="02020603050405020304" pitchFamily="18" charset="0"/>
              </a:rPr>
              <a:t>APPLICATIONS</a:t>
            </a:r>
            <a:endParaRPr lang="en-US" sz="1500" b="1" dirty="0">
              <a:solidFill>
                <a:schemeClr val="dk1"/>
              </a:solidFill>
              <a:latin typeface="Times New Roman" panose="02020603050405020304" pitchFamily="18" charset="0"/>
              <a:cs typeface="Times New Roman" panose="02020603050405020304" pitchFamily="18" charset="0"/>
              <a:sym typeface="Times New Roman"/>
            </a:endParaRPr>
          </a:p>
          <a:p>
            <a:pPr marL="285750" lvl="0" indent="-285750" algn="just" rtl="0">
              <a:spcBef>
                <a:spcPts val="1400"/>
              </a:spcBef>
              <a:spcAft>
                <a:spcPts val="0"/>
              </a:spcAft>
              <a:buSzPts val="1400"/>
              <a:buFont typeface="Wingdings" panose="05000000000000000000" pitchFamily="2" charset="2"/>
              <a:buChar char="q"/>
            </a:pPr>
            <a:r>
              <a:rPr lang="en-US" sz="1400" b="1" dirty="0">
                <a:solidFill>
                  <a:schemeClr val="dk1"/>
                </a:solidFill>
                <a:latin typeface="Times New Roman" panose="02020603050405020304" pitchFamily="18" charset="0"/>
                <a:cs typeface="Times New Roman" panose="02020603050405020304" pitchFamily="18" charset="0"/>
                <a:sym typeface="Times New Roman"/>
              </a:rPr>
              <a:t>METHODOLOGY</a:t>
            </a:r>
            <a:endParaRPr b="1" dirty="0">
              <a:latin typeface="Times New Roman" panose="02020603050405020304" pitchFamily="18" charset="0"/>
              <a:cs typeface="Times New Roman" panose="02020603050405020304" pitchFamily="18" charset="0"/>
            </a:endParaRPr>
          </a:p>
          <a:p>
            <a:pPr marL="285750" lvl="0" indent="-285750" algn="just" rtl="0">
              <a:spcBef>
                <a:spcPts val="1400"/>
              </a:spcBef>
              <a:spcAft>
                <a:spcPts val="0"/>
              </a:spcAft>
              <a:buSzPts val="1400"/>
              <a:buFont typeface="Wingdings" panose="05000000000000000000" pitchFamily="2" charset="2"/>
              <a:buChar char="q"/>
            </a:pPr>
            <a:r>
              <a:rPr lang="en-US" sz="1400" b="1" dirty="0">
                <a:solidFill>
                  <a:schemeClr val="dk1"/>
                </a:solidFill>
                <a:latin typeface="Times New Roman" panose="02020603050405020304" pitchFamily="18" charset="0"/>
                <a:ea typeface="Times New Roman"/>
                <a:cs typeface="Times New Roman" panose="02020603050405020304" pitchFamily="18" charset="0"/>
                <a:sym typeface="Times New Roman"/>
              </a:rPr>
              <a:t>CONCLUSION</a:t>
            </a:r>
            <a:endParaRPr b="1" dirty="0">
              <a:latin typeface="Times New Roman" panose="02020603050405020304" pitchFamily="18" charset="0"/>
              <a:cs typeface="Times New Roman" panose="02020603050405020304" pitchFamily="18" charset="0"/>
            </a:endParaRPr>
          </a:p>
          <a:p>
            <a:pPr marL="285750" lvl="0" indent="-285750" algn="just" rtl="0">
              <a:spcBef>
                <a:spcPts val="1400"/>
              </a:spcBef>
              <a:spcAft>
                <a:spcPts val="0"/>
              </a:spcAft>
              <a:buSzPts val="1400"/>
              <a:buFont typeface="Wingdings" panose="05000000000000000000" pitchFamily="2" charset="2"/>
              <a:buChar char="q"/>
            </a:pPr>
            <a:r>
              <a:rPr lang="en-US" sz="1400" b="1" dirty="0">
                <a:solidFill>
                  <a:schemeClr val="dk1"/>
                </a:solidFill>
                <a:latin typeface="Times New Roman" panose="02020603050405020304" pitchFamily="18" charset="0"/>
                <a:ea typeface="Times New Roman"/>
                <a:cs typeface="Times New Roman" panose="02020603050405020304" pitchFamily="18" charset="0"/>
                <a:sym typeface="Times New Roman"/>
              </a:rPr>
              <a:t>REFERENCES</a:t>
            </a:r>
            <a:endParaRPr b="1" dirty="0">
              <a:latin typeface="Times New Roman" panose="02020603050405020304" pitchFamily="18" charset="0"/>
              <a:cs typeface="Times New Roman" panose="02020603050405020304" pitchFamily="18" charset="0"/>
            </a:endParaRPr>
          </a:p>
          <a:p>
            <a:pPr marL="90488" lvl="0" indent="0" algn="just" rtl="0">
              <a:spcBef>
                <a:spcPts val="1400"/>
              </a:spcBef>
              <a:spcAft>
                <a:spcPts val="0"/>
              </a:spcAft>
              <a:buSzPts val="2000"/>
              <a:buFont typeface="Arial"/>
              <a:buNone/>
            </a:pPr>
            <a:endParaRPr sz="2000" b="1" dirty="0">
              <a:solidFill>
                <a:schemeClr val="dk1"/>
              </a:solidFill>
              <a:latin typeface="Times New Roman"/>
              <a:ea typeface="Times New Roman"/>
              <a:cs typeface="Times New Roman"/>
              <a:sym typeface="Times New Roman"/>
            </a:endParaRPr>
          </a:p>
          <a:p>
            <a:pPr marL="90488" lvl="0" indent="0" algn="just" rtl="0">
              <a:spcBef>
                <a:spcPts val="1400"/>
              </a:spcBef>
              <a:spcAft>
                <a:spcPts val="0"/>
              </a:spcAft>
              <a:buSzPts val="2000"/>
              <a:buFont typeface="Arial"/>
              <a:buNone/>
            </a:pPr>
            <a:endParaRPr sz="2000" b="1" dirty="0">
              <a:solidFill>
                <a:schemeClr val="dk1"/>
              </a:solidFill>
              <a:latin typeface="Times New Roman"/>
              <a:ea typeface="Times New Roman"/>
              <a:cs typeface="Times New Roman"/>
              <a:sym typeface="Times New Roman"/>
            </a:endParaRPr>
          </a:p>
          <a:p>
            <a:pPr marL="90488" lvl="0" indent="0" algn="just" rtl="0">
              <a:spcBef>
                <a:spcPts val="1400"/>
              </a:spcBef>
              <a:spcAft>
                <a:spcPts val="0"/>
              </a:spcAft>
              <a:buSzPts val="2000"/>
              <a:buFont typeface="Arial"/>
              <a:buNone/>
            </a:pPr>
            <a:endParaRPr sz="2000" b="1" dirty="0">
              <a:solidFill>
                <a:schemeClr val="dk1"/>
              </a:solidFill>
              <a:latin typeface="Times New Roman"/>
              <a:ea typeface="Times New Roman"/>
              <a:cs typeface="Times New Roman"/>
              <a:sym typeface="Times New Roman"/>
            </a:endParaRPr>
          </a:p>
          <a:p>
            <a:pPr marL="90488" lvl="0" indent="0" algn="l" rtl="0">
              <a:spcBef>
                <a:spcPts val="1400"/>
              </a:spcBef>
              <a:spcAft>
                <a:spcPts val="0"/>
              </a:spcAft>
              <a:buSzPts val="2000"/>
              <a:buNone/>
            </a:pPr>
            <a:endParaRPr dirty="0"/>
          </a:p>
        </p:txBody>
      </p:sp>
      <p:sp>
        <p:nvSpPr>
          <p:cNvPr id="136" name="Google Shape;136;p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lvl="0"/>
            <a:r>
              <a:rPr lang="en-US" dirty="0">
                <a:solidFill>
                  <a:schemeClr val="bg1"/>
                </a:solidFill>
              </a:rPr>
              <a:t>KARE – CFP - </a:t>
            </a:r>
            <a:r>
              <a:rPr lang="en-US" b="0" i="0" dirty="0">
                <a:solidFill>
                  <a:schemeClr val="bg1"/>
                </a:solidFill>
                <a:effectLst/>
                <a:latin typeface="Google Sans"/>
              </a:rPr>
              <a:t>216ECE4220 -  </a:t>
            </a:r>
            <a:r>
              <a:rPr lang="en-US" dirty="0">
                <a:solidFill>
                  <a:schemeClr val="bg1"/>
                </a:solidFill>
              </a:rPr>
              <a:t>REVIEW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
          <p:cNvSpPr txBox="1">
            <a:spLocks noGrp="1"/>
          </p:cNvSpPr>
          <p:nvPr>
            <p:ph type="title"/>
          </p:nvPr>
        </p:nvSpPr>
        <p:spPr>
          <a:xfrm>
            <a:off x="703754" y="62312"/>
            <a:ext cx="9601196" cy="130386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sz="3600" b="1" dirty="0">
                <a:latin typeface="Times New Roman" panose="02020603050405020304" pitchFamily="18" charset="0"/>
                <a:cs typeface="Times New Roman" panose="02020603050405020304" pitchFamily="18" charset="0"/>
                <a:sym typeface="Times New Roman"/>
              </a:rPr>
              <a:t>OBJECTIVE</a:t>
            </a:r>
            <a:endParaRPr b="1" dirty="0">
              <a:latin typeface="Times New Roman" panose="02020603050405020304" pitchFamily="18" charset="0"/>
              <a:cs typeface="Times New Roman" panose="02020603050405020304" pitchFamily="18" charset="0"/>
            </a:endParaRPr>
          </a:p>
        </p:txBody>
      </p:sp>
      <p:sp>
        <p:nvSpPr>
          <p:cNvPr id="142" name="Google Shape;142;p3"/>
          <p:cNvSpPr txBox="1">
            <a:spLocks noGrp="1"/>
          </p:cNvSpPr>
          <p:nvPr>
            <p:ph idx="1"/>
          </p:nvPr>
        </p:nvSpPr>
        <p:spPr>
          <a:xfrm>
            <a:off x="703754" y="1539911"/>
            <a:ext cx="9601196" cy="3318936"/>
          </a:xfrm>
          <a:prstGeom prst="rect">
            <a:avLst/>
          </a:prstGeom>
          <a:noFill/>
          <a:ln>
            <a:noFill/>
          </a:ln>
        </p:spPr>
        <p:txBody>
          <a:bodyPr spcFirstLastPara="1" wrap="square" lIns="0" tIns="45700" rIns="0" bIns="45700" anchor="t" anchorCtr="0">
            <a:noAutofit/>
          </a:bodyPr>
          <a:lstStyle/>
          <a:p>
            <a:pPr marL="90488" lvl="0" indent="0" algn="l" rtl="0">
              <a:spcBef>
                <a:spcPts val="1400"/>
              </a:spcBef>
              <a:spcAft>
                <a:spcPts val="0"/>
              </a:spcAft>
              <a:buClr>
                <a:srgbClr val="404040"/>
              </a:buClr>
              <a:buSzPts val="2000"/>
              <a:buFont typeface="Arial"/>
              <a:buNone/>
            </a:pPr>
            <a:r>
              <a:rPr lang="en-US" sz="1800" dirty="0">
                <a:latin typeface="Times New Roman" panose="02020603050405020304" pitchFamily="18" charset="0"/>
                <a:cs typeface="Times New Roman" panose="02020603050405020304" pitchFamily="18" charset="0"/>
              </a:rPr>
              <a:t>The main objective of the facial expression intelligence project is to develop a system that can accurately detect and recognize human emotions from facial expressions.</a:t>
            </a:r>
          </a:p>
          <a:p>
            <a:pPr marL="90488" lvl="0" indent="0" algn="l" rtl="0">
              <a:spcBef>
                <a:spcPts val="1400"/>
              </a:spcBef>
              <a:spcAft>
                <a:spcPts val="0"/>
              </a:spcAft>
              <a:buClr>
                <a:srgbClr val="404040"/>
              </a:buClr>
              <a:buSzPts val="2000"/>
              <a:buFont typeface="Arial"/>
              <a:buNone/>
            </a:pPr>
            <a:r>
              <a:rPr lang="en-US" sz="1800" dirty="0">
                <a:latin typeface="Times New Roman" panose="02020603050405020304" pitchFamily="18" charset="0"/>
                <a:cs typeface="Times New Roman" panose="02020603050405020304" pitchFamily="18" charset="0"/>
              </a:rPr>
              <a:t>1. Emotion recognition for mental health diagnosis and monitoring.</a:t>
            </a:r>
          </a:p>
          <a:p>
            <a:pPr marL="90488" lvl="0" indent="0" algn="l" rtl="0">
              <a:spcBef>
                <a:spcPts val="1400"/>
              </a:spcBef>
              <a:spcAft>
                <a:spcPts val="0"/>
              </a:spcAft>
              <a:buClr>
                <a:srgbClr val="404040"/>
              </a:buClr>
              <a:buSzPts val="2000"/>
              <a:buFont typeface="Arial"/>
              <a:buNone/>
            </a:pPr>
            <a:r>
              <a:rPr lang="en-US" sz="1800" dirty="0">
                <a:latin typeface="Times New Roman" panose="02020603050405020304" pitchFamily="18" charset="0"/>
                <a:cs typeface="Times New Roman" panose="02020603050405020304" pitchFamily="18" charset="0"/>
              </a:rPr>
              <a:t>2. Sentiment analysis for market research and customer feedback.</a:t>
            </a:r>
          </a:p>
          <a:p>
            <a:pPr marL="90488" lvl="0" indent="0" algn="l" rtl="0">
              <a:spcBef>
                <a:spcPts val="1400"/>
              </a:spcBef>
              <a:spcAft>
                <a:spcPts val="0"/>
              </a:spcAft>
              <a:buClr>
                <a:srgbClr val="404040"/>
              </a:buClr>
              <a:buSzPts val="2000"/>
              <a:buFont typeface="Arial"/>
              <a:buNone/>
            </a:pPr>
            <a:r>
              <a:rPr lang="en-US" sz="1800" dirty="0">
                <a:latin typeface="Times New Roman" panose="02020603050405020304" pitchFamily="18" charset="0"/>
                <a:cs typeface="Times New Roman" panose="02020603050405020304" pitchFamily="18" charset="0"/>
              </a:rPr>
              <a:t>3. Emotion-based personalization for advertising and entertainment.</a:t>
            </a:r>
          </a:p>
          <a:p>
            <a:pPr marL="90488" lvl="0" indent="0" algn="l" rtl="0">
              <a:spcBef>
                <a:spcPts val="1400"/>
              </a:spcBef>
              <a:spcAft>
                <a:spcPts val="0"/>
              </a:spcAft>
              <a:buClr>
                <a:srgbClr val="404040"/>
              </a:buClr>
              <a:buSzPts val="2000"/>
              <a:buFont typeface="Arial"/>
              <a:buNone/>
            </a:pPr>
            <a:r>
              <a:rPr lang="en-US" sz="1800" dirty="0">
                <a:latin typeface="Times New Roman" panose="02020603050405020304" pitchFamily="18" charset="0"/>
                <a:cs typeface="Times New Roman" panose="02020603050405020304" pitchFamily="18" charset="0"/>
              </a:rPr>
              <a:t>4. Emotion detection for security and surveillance purposes.</a:t>
            </a:r>
            <a:endParaRPr sz="1800" dirty="0">
              <a:latin typeface="Times New Roman" panose="02020603050405020304" pitchFamily="18" charset="0"/>
              <a:cs typeface="Times New Roman" panose="02020603050405020304" pitchFamily="18" charset="0"/>
            </a:endParaRPr>
          </a:p>
        </p:txBody>
      </p:sp>
      <p:sp>
        <p:nvSpPr>
          <p:cNvPr id="143" name="Google Shape;143;p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lvl="0"/>
            <a:r>
              <a:rPr lang="en-US" dirty="0">
                <a:solidFill>
                  <a:schemeClr val="bg1"/>
                </a:solidFill>
              </a:rPr>
              <a:t>KARE – CFP - </a:t>
            </a:r>
            <a:r>
              <a:rPr lang="en-US" b="0" i="0" dirty="0">
                <a:solidFill>
                  <a:schemeClr val="bg1"/>
                </a:solidFill>
                <a:effectLst/>
                <a:latin typeface="Google Sans"/>
              </a:rPr>
              <a:t>216ECE4220 -  </a:t>
            </a:r>
            <a:r>
              <a:rPr lang="en-US" dirty="0">
                <a:solidFill>
                  <a:schemeClr val="bg1"/>
                </a:solidFill>
              </a:rPr>
              <a:t>REVIEW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4"/>
          <p:cNvSpPr txBox="1">
            <a:spLocks noGrp="1"/>
          </p:cNvSpPr>
          <p:nvPr>
            <p:ph type="title"/>
          </p:nvPr>
        </p:nvSpPr>
        <p:spPr>
          <a:xfrm>
            <a:off x="786602" y="725256"/>
            <a:ext cx="9398000" cy="68900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sz="3600" b="1" dirty="0">
                <a:latin typeface="Times New Roman"/>
                <a:ea typeface="Times New Roman"/>
                <a:cs typeface="Times New Roman"/>
                <a:sym typeface="Times New Roman"/>
              </a:rPr>
              <a:t>ABSTRACT</a:t>
            </a:r>
            <a:endParaRPr sz="3600" dirty="0"/>
          </a:p>
        </p:txBody>
      </p:sp>
      <p:sp>
        <p:nvSpPr>
          <p:cNvPr id="149" name="Google Shape;149;p4"/>
          <p:cNvSpPr txBox="1">
            <a:spLocks noGrp="1"/>
          </p:cNvSpPr>
          <p:nvPr>
            <p:ph idx="1"/>
          </p:nvPr>
        </p:nvSpPr>
        <p:spPr>
          <a:xfrm>
            <a:off x="786602" y="1836993"/>
            <a:ext cx="10515600" cy="4295751"/>
          </a:xfrm>
          <a:prstGeom prst="rect">
            <a:avLst/>
          </a:prstGeom>
          <a:noFill/>
          <a:ln>
            <a:noFill/>
          </a:ln>
        </p:spPr>
        <p:txBody>
          <a:bodyPr spcFirstLastPara="1" wrap="square" lIns="0" tIns="45700" rIns="0" bIns="45700" anchor="t" anchorCtr="0">
            <a:noAutofit/>
          </a:bodyPr>
          <a:lstStyle/>
          <a:p>
            <a:pPr lvl="0" algn="just" rtl="0">
              <a:spcBef>
                <a:spcPts val="0"/>
              </a:spcBef>
              <a:spcAft>
                <a:spcPts val="0"/>
              </a:spcAft>
              <a:buSzPts val="18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project is focused on developing an facial expression intelligence system able to detect and read human emotions from facial expressions.</a:t>
            </a:r>
          </a:p>
          <a:p>
            <a:pPr marL="0" lvl="0" indent="0" algn="just" rtl="0">
              <a:spcBef>
                <a:spcPts val="0"/>
              </a:spcBef>
              <a:spcAft>
                <a:spcPts val="0"/>
              </a:spcAft>
              <a:buSzPts val="1800"/>
              <a:buNone/>
            </a:pPr>
            <a:endParaRPr lang="en-US" sz="1800" dirty="0">
              <a:latin typeface="Times New Roman" panose="02020603050405020304" pitchFamily="18" charset="0"/>
              <a:cs typeface="Times New Roman" panose="02020603050405020304" pitchFamily="18" charset="0"/>
            </a:endParaRPr>
          </a:p>
          <a:p>
            <a:pPr lvl="0" algn="just" rtl="0">
              <a:spcBef>
                <a:spcPts val="0"/>
              </a:spcBef>
              <a:spcAft>
                <a:spcPts val="0"/>
              </a:spcAft>
              <a:buSzPts val="18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Our designed system is capable of identifying and classifying emotions, such as happiness, sadness, anger, surprise, among others, using computer vision techniques and machine learning tools with a high accuracy rating.  </a:t>
            </a:r>
          </a:p>
          <a:p>
            <a:pPr lvl="0" algn="just" rtl="0">
              <a:spcBef>
                <a:spcPts val="0"/>
              </a:spcBef>
              <a:spcAft>
                <a:spcPts val="0"/>
              </a:spcAft>
              <a:buSzPts val="180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lvl="0" algn="just" rtl="0">
              <a:spcBef>
                <a:spcPts val="0"/>
              </a:spcBef>
              <a:spcAft>
                <a:spcPts val="0"/>
              </a:spcAft>
              <a:buSzPts val="18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Our approach fuses convolutional neural networks with transfer learning for state-of-the-art performance on publicly available datasets of emotion detection. The system will be very useful in several industries and domains by enhancing the emotional intelligence and empathy of human-machine interaction.</a:t>
            </a:r>
          </a:p>
          <a:p>
            <a:pPr marL="261938" lvl="0" indent="-285750" algn="just" rtl="0">
              <a:spcBef>
                <a:spcPts val="0"/>
              </a:spcBef>
              <a:spcAft>
                <a:spcPts val="0"/>
              </a:spcAft>
              <a:buSzPts val="1800"/>
              <a:buFont typeface="Wingdings" panose="05000000000000000000" pitchFamily="2" charset="2"/>
              <a:buChar char="Ø"/>
            </a:pPr>
            <a:endParaRPr sz="1800" dirty="0"/>
          </a:p>
        </p:txBody>
      </p:sp>
      <p:sp>
        <p:nvSpPr>
          <p:cNvPr id="150" name="Google Shape;150;p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lvl="0"/>
            <a:r>
              <a:rPr lang="en-US" dirty="0">
                <a:solidFill>
                  <a:schemeClr val="bg1"/>
                </a:solidFill>
              </a:rPr>
              <a:t>KARE – CFP - </a:t>
            </a:r>
            <a:r>
              <a:rPr lang="en-US" b="0" i="0" dirty="0">
                <a:solidFill>
                  <a:schemeClr val="bg1"/>
                </a:solidFill>
                <a:effectLst/>
                <a:latin typeface="Google Sans"/>
              </a:rPr>
              <a:t>216ECE4220 -  </a:t>
            </a:r>
            <a:r>
              <a:rPr lang="en-US" dirty="0">
                <a:solidFill>
                  <a:schemeClr val="bg1"/>
                </a:solidFill>
              </a:rPr>
              <a:t>REVIEW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5"/>
          <p:cNvSpPr txBox="1">
            <a:spLocks noGrp="1"/>
          </p:cNvSpPr>
          <p:nvPr>
            <p:ph type="title"/>
          </p:nvPr>
        </p:nvSpPr>
        <p:spPr>
          <a:xfrm>
            <a:off x="318977" y="-72452"/>
            <a:ext cx="9972468" cy="1034249"/>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sz="3600" b="1" dirty="0">
                <a:latin typeface="Times New Roman"/>
                <a:cs typeface="Times New Roman"/>
                <a:sym typeface="Times New Roman"/>
              </a:rPr>
              <a:t>INTRODUCTION</a:t>
            </a:r>
            <a:endParaRPr sz="3600" dirty="0"/>
          </a:p>
        </p:txBody>
      </p:sp>
      <p:sp>
        <p:nvSpPr>
          <p:cNvPr id="156" name="Google Shape;156;p5"/>
          <p:cNvSpPr txBox="1">
            <a:spLocks noGrp="1"/>
          </p:cNvSpPr>
          <p:nvPr>
            <p:ph idx="1"/>
          </p:nvPr>
        </p:nvSpPr>
        <p:spPr>
          <a:xfrm>
            <a:off x="318977" y="1336089"/>
            <a:ext cx="11483163" cy="5334653"/>
          </a:xfrm>
          <a:prstGeom prst="rect">
            <a:avLst/>
          </a:prstGeom>
          <a:noFill/>
          <a:ln>
            <a:noFill/>
          </a:ln>
        </p:spPr>
        <p:txBody>
          <a:bodyPr spcFirstLastPara="1" wrap="square" lIns="0" tIns="45700" rIns="0" bIns="45700" anchor="t" anchorCtr="0">
            <a:noAutofit/>
          </a:bodyPr>
          <a:lstStyle/>
          <a:p>
            <a:pPr>
              <a:spcBef>
                <a:spcPts val="0"/>
              </a:spcBef>
              <a:buSzPts val="2000"/>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Emotion detection plays a crucial role in various applications, including human-computer interaction, security, healthcare, and social robotics. Accurately detecting emotions can improve user experience, enhance communication, and provide critical insights into human behavior.</a:t>
            </a:r>
          </a:p>
          <a:p>
            <a:pPr>
              <a:spcBef>
                <a:spcPts val="0"/>
              </a:spcBef>
              <a:buSzPts val="2000"/>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a:p>
            <a:pPr lvl="0" rtl="0">
              <a:spcBef>
                <a:spcPts val="0"/>
              </a:spcBef>
              <a:spcAft>
                <a:spcPts val="0"/>
              </a:spcAft>
              <a:buSzPts val="2000"/>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Images captured in low-light environments often suffer from poor visibility, noise, and color distortions. These challenges make it difficult for traditional emotion detection algorithms to perform accurately, as the quality of facial features is significantly degraded.</a:t>
            </a:r>
          </a:p>
          <a:p>
            <a:pPr lvl="0" rtl="0">
              <a:spcBef>
                <a:spcPts val="0"/>
              </a:spcBef>
              <a:spcAft>
                <a:spcPts val="0"/>
              </a:spcAft>
              <a:buSzPts val="2000"/>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a:p>
            <a:pPr lvl="0" rtl="0">
              <a:spcBef>
                <a:spcPts val="0"/>
              </a:spcBef>
              <a:spcAft>
                <a:spcPts val="0"/>
              </a:spcAft>
              <a:buSzPts val="2000"/>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By integrating smart low-light image enhancement with emotion detection systems, it becomes possible to maintain high accuracy in various lighting conditions. Enhanced images provide clearer facial features, which are critical for distinguishing subtle emotional expressions.</a:t>
            </a:r>
          </a:p>
          <a:p>
            <a:pPr marL="0" lvl="0" indent="0" rtl="0">
              <a:spcBef>
                <a:spcPts val="0"/>
              </a:spcBef>
              <a:spcAft>
                <a:spcPts val="0"/>
              </a:spcAft>
              <a:buSzPts val="2000"/>
              <a:buNone/>
            </a:pPr>
            <a:endParaRPr lang="en-US" sz="1800" dirty="0">
              <a:latin typeface="Times New Roman" panose="02020603050405020304" pitchFamily="18" charset="0"/>
              <a:cs typeface="Times New Roman" panose="02020603050405020304" pitchFamily="18" charset="0"/>
            </a:endParaRPr>
          </a:p>
          <a:p>
            <a:pPr lvl="0" rtl="0">
              <a:spcBef>
                <a:spcPts val="0"/>
              </a:spcBef>
              <a:spcAft>
                <a:spcPts val="0"/>
              </a:spcAft>
              <a:buSzPts val="2000"/>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Effective low-light enhancement for emotion detection has significant implications for real-world applications, such as night-time surveillance, virtual reality, and assistive technologies for the visually impaired. This research contributes to building more robust and adaptable emotion detection systems that perform reliably under challenging lighting conditions.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7"/>
          <p:cNvSpPr txBox="1">
            <a:spLocks noGrp="1"/>
          </p:cNvSpPr>
          <p:nvPr>
            <p:ph type="title"/>
          </p:nvPr>
        </p:nvSpPr>
        <p:spPr>
          <a:xfrm>
            <a:off x="364744" y="410567"/>
            <a:ext cx="9398000" cy="7112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n-US" sz="3600" b="1" dirty="0">
                <a:latin typeface="Times New Roman" panose="02020603050405020304" pitchFamily="18" charset="0"/>
                <a:cs typeface="Times New Roman" panose="02020603050405020304" pitchFamily="18" charset="0"/>
              </a:rPr>
              <a:t>LITERATURE SURVEY</a:t>
            </a:r>
            <a:endParaRPr sz="3600" b="1" dirty="0">
              <a:latin typeface="Times New Roman" panose="02020603050405020304" pitchFamily="18" charset="0"/>
              <a:cs typeface="Times New Roman" panose="02020603050405020304" pitchFamily="18" charset="0"/>
            </a:endParaRPr>
          </a:p>
        </p:txBody>
      </p:sp>
      <p:sp>
        <p:nvSpPr>
          <p:cNvPr id="169" name="Google Shape;169;p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dirty="0"/>
          </a:p>
        </p:txBody>
      </p:sp>
      <p:graphicFrame>
        <p:nvGraphicFramePr>
          <p:cNvPr id="170" name="Google Shape;170;p7"/>
          <p:cNvGraphicFramePr/>
          <p:nvPr>
            <p:extLst>
              <p:ext uri="{D42A27DB-BD31-4B8C-83A1-F6EECF244321}">
                <p14:modId xmlns:p14="http://schemas.microsoft.com/office/powerpoint/2010/main" val="327215015"/>
              </p:ext>
            </p:extLst>
          </p:nvPr>
        </p:nvGraphicFramePr>
        <p:xfrm>
          <a:off x="364744" y="1517894"/>
          <a:ext cx="10739120" cy="4813422"/>
        </p:xfrm>
        <a:graphic>
          <a:graphicData uri="http://schemas.openxmlformats.org/drawingml/2006/table">
            <a:tbl>
              <a:tblPr firstRow="1" bandRow="1">
                <a:noFill/>
                <a:tableStyleId>{2D42FD62-2D95-49B5-AAF5-B657BEC087FE}</a:tableStyleId>
              </a:tblPr>
              <a:tblGrid>
                <a:gridCol w="741652">
                  <a:extLst>
                    <a:ext uri="{9D8B030D-6E8A-4147-A177-3AD203B41FA5}">
                      <a16:colId xmlns:a16="http://schemas.microsoft.com/office/drawing/2014/main" val="20000"/>
                    </a:ext>
                  </a:extLst>
                </a:gridCol>
                <a:gridCol w="1847984">
                  <a:extLst>
                    <a:ext uri="{9D8B030D-6E8A-4147-A177-3AD203B41FA5}">
                      <a16:colId xmlns:a16="http://schemas.microsoft.com/office/drawing/2014/main" val="20001"/>
                    </a:ext>
                  </a:extLst>
                </a:gridCol>
                <a:gridCol w="1749266">
                  <a:extLst>
                    <a:ext uri="{9D8B030D-6E8A-4147-A177-3AD203B41FA5}">
                      <a16:colId xmlns:a16="http://schemas.microsoft.com/office/drawing/2014/main" val="20002"/>
                    </a:ext>
                  </a:extLst>
                </a:gridCol>
                <a:gridCol w="2101820">
                  <a:extLst>
                    <a:ext uri="{9D8B030D-6E8A-4147-A177-3AD203B41FA5}">
                      <a16:colId xmlns:a16="http://schemas.microsoft.com/office/drawing/2014/main" val="20003"/>
                    </a:ext>
                  </a:extLst>
                </a:gridCol>
                <a:gridCol w="4298398">
                  <a:extLst>
                    <a:ext uri="{9D8B030D-6E8A-4147-A177-3AD203B41FA5}">
                      <a16:colId xmlns:a16="http://schemas.microsoft.com/office/drawing/2014/main" val="20004"/>
                    </a:ext>
                  </a:extLst>
                </a:gridCol>
              </a:tblGrid>
              <a:tr h="576682">
                <a:tc>
                  <a:txBody>
                    <a:bodyPr/>
                    <a:lstStyle/>
                    <a:p>
                      <a:pPr marL="0" marR="0" lvl="0" indent="0" algn="ctr" rtl="0">
                        <a:spcBef>
                          <a:spcPts val="0"/>
                        </a:spcBef>
                        <a:spcAft>
                          <a:spcPts val="0"/>
                        </a:spcAft>
                        <a:buNone/>
                      </a:pPr>
                      <a:r>
                        <a:rPr lang="en-US" sz="1800" b="1" u="none" strike="noStrike" cap="none" dirty="0" err="1">
                          <a:latin typeface="Times New Roman"/>
                          <a:ea typeface="Times New Roman"/>
                          <a:cs typeface="Times New Roman"/>
                          <a:sym typeface="Times New Roman"/>
                        </a:rPr>
                        <a:t>Sno</a:t>
                      </a:r>
                      <a:endParaRPr sz="1800" b="1"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b="1" u="none" strike="noStrike" cap="none">
                          <a:latin typeface="Times New Roman"/>
                          <a:ea typeface="Times New Roman"/>
                          <a:cs typeface="Times New Roman"/>
                          <a:sym typeface="Times New Roman"/>
                        </a:rPr>
                        <a:t>Authors</a:t>
                      </a:r>
                      <a:endParaRPr/>
                    </a:p>
                  </a:txBody>
                  <a:tcPr marL="91450" marR="91450" marT="45725" marB="45725"/>
                </a:tc>
                <a:tc>
                  <a:txBody>
                    <a:bodyPr/>
                    <a:lstStyle/>
                    <a:p>
                      <a:pPr marL="0" marR="0" lvl="0" indent="0" algn="ctr" rtl="0">
                        <a:spcBef>
                          <a:spcPts val="0"/>
                        </a:spcBef>
                        <a:spcAft>
                          <a:spcPts val="0"/>
                        </a:spcAft>
                        <a:buNone/>
                      </a:pPr>
                      <a:r>
                        <a:rPr lang="en-US" sz="1800" b="1" u="none" strike="noStrike" cap="none">
                          <a:latin typeface="Times New Roman"/>
                          <a:ea typeface="Times New Roman"/>
                          <a:cs typeface="Times New Roman"/>
                          <a:sym typeface="Times New Roman"/>
                        </a:rPr>
                        <a:t>Journal &amp; Year</a:t>
                      </a:r>
                      <a:endParaRPr/>
                    </a:p>
                  </a:txBody>
                  <a:tcPr marL="91450" marR="91450" marT="45725" marB="45725"/>
                </a:tc>
                <a:tc>
                  <a:txBody>
                    <a:bodyPr/>
                    <a:lstStyle/>
                    <a:p>
                      <a:pPr marL="0" marR="0" lvl="0" indent="0" algn="ctr" rtl="0">
                        <a:spcBef>
                          <a:spcPts val="0"/>
                        </a:spcBef>
                        <a:spcAft>
                          <a:spcPts val="0"/>
                        </a:spcAft>
                        <a:buNone/>
                      </a:pPr>
                      <a:r>
                        <a:rPr lang="en-US" sz="1800" b="1" u="none" strike="noStrike" cap="none">
                          <a:latin typeface="Times New Roman"/>
                          <a:ea typeface="Times New Roman"/>
                          <a:cs typeface="Times New Roman"/>
                          <a:sym typeface="Times New Roman"/>
                        </a:rPr>
                        <a:t>Title of the paper</a:t>
                      </a:r>
                      <a:endParaRPr/>
                    </a:p>
                  </a:txBody>
                  <a:tcPr marL="91450" marR="91450" marT="45725" marB="45725"/>
                </a:tc>
                <a:tc>
                  <a:txBody>
                    <a:bodyPr/>
                    <a:lstStyle/>
                    <a:p>
                      <a:pPr marL="0" marR="0" lvl="0" indent="0" algn="ctr" rtl="0">
                        <a:spcBef>
                          <a:spcPts val="0"/>
                        </a:spcBef>
                        <a:spcAft>
                          <a:spcPts val="0"/>
                        </a:spcAft>
                        <a:buNone/>
                      </a:pPr>
                      <a:r>
                        <a:rPr lang="en-US" sz="1800" b="1" u="none" strike="noStrike" cap="none">
                          <a:latin typeface="Times New Roman"/>
                          <a:ea typeface="Times New Roman"/>
                          <a:cs typeface="Times New Roman"/>
                          <a:sym typeface="Times New Roman"/>
                        </a:rPr>
                        <a:t>Methodology</a:t>
                      </a:r>
                      <a:endParaRPr/>
                    </a:p>
                  </a:txBody>
                  <a:tcPr marL="91450" marR="91450" marT="45725" marB="45725"/>
                </a:tc>
                <a:extLst>
                  <a:ext uri="{0D108BD9-81ED-4DB2-BD59-A6C34878D82A}">
                    <a16:rowId xmlns:a16="http://schemas.microsoft.com/office/drawing/2014/main" val="10000"/>
                  </a:ext>
                </a:extLst>
              </a:tr>
              <a:tr h="1495958">
                <a:tc>
                  <a:txBody>
                    <a:bodyPr/>
                    <a:lstStyle/>
                    <a:p>
                      <a:pPr marL="0" marR="0" lvl="0" indent="0" algn="ctr" rtl="0">
                        <a:spcBef>
                          <a:spcPts val="0"/>
                        </a:spcBef>
                        <a:spcAft>
                          <a:spcPts val="0"/>
                        </a:spcAft>
                        <a:buNone/>
                      </a:pPr>
                      <a:r>
                        <a:rPr lang="en-US" sz="1200" u="none" strike="noStrike" cap="none" dirty="0">
                          <a:latin typeface="Times New Roman"/>
                          <a:ea typeface="Times New Roman"/>
                          <a:cs typeface="Times New Roman"/>
                          <a:sym typeface="Times New Roman"/>
                        </a:rPr>
                        <a:t>1</a:t>
                      </a:r>
                      <a:endParaRPr dirty="0"/>
                    </a:p>
                  </a:txBody>
                  <a:tcPr marL="91450" marR="91450" marT="45725" marB="45725"/>
                </a:tc>
                <a:tc>
                  <a:txBody>
                    <a:bodyPr/>
                    <a:lstStyle/>
                    <a:p>
                      <a:pPr marL="0" marR="0" lvl="0" indent="0" algn="just" rtl="0">
                        <a:spcBef>
                          <a:spcPts val="0"/>
                        </a:spcBef>
                        <a:spcAft>
                          <a:spcPts val="0"/>
                        </a:spcAft>
                        <a:buNone/>
                      </a:pPr>
                      <a:r>
                        <a:rPr lang="en-US" sz="1200" u="none" strike="noStrike" cap="none" dirty="0" err="1">
                          <a:latin typeface="Times New Roman"/>
                          <a:ea typeface="Times New Roman"/>
                          <a:cs typeface="Times New Roman"/>
                          <a:sym typeface="Times New Roman"/>
                        </a:rPr>
                        <a:t>yihua</a:t>
                      </a:r>
                      <a:r>
                        <a:rPr lang="en-US" sz="1200" u="none" strike="noStrike" cap="none" dirty="0">
                          <a:latin typeface="Times New Roman"/>
                          <a:ea typeface="Times New Roman"/>
                          <a:cs typeface="Times New Roman"/>
                          <a:sym typeface="Times New Roman"/>
                        </a:rPr>
                        <a:t> fan, dong liang, yiping </a:t>
                      </a:r>
                      <a:r>
                        <a:rPr lang="en-US" sz="1200" u="none" strike="noStrike" cap="none" dirty="0" err="1">
                          <a:latin typeface="Times New Roman"/>
                          <a:ea typeface="Times New Roman"/>
                          <a:cs typeface="Times New Roman"/>
                          <a:sym typeface="Times New Roman"/>
                        </a:rPr>
                        <a:t>chen</a:t>
                      </a:r>
                      <a:r>
                        <a:rPr lang="en-US" sz="1200" u="none" strike="noStrike" cap="none" dirty="0">
                          <a:latin typeface="Times New Roman"/>
                          <a:ea typeface="Times New Roman"/>
                          <a:cs typeface="Times New Roman"/>
                          <a:sym typeface="Times New Roman"/>
                        </a:rPr>
                        <a:t> </a:t>
                      </a:r>
                      <a:r>
                        <a:rPr lang="en-IN" sz="1200" u="none" strike="noStrike" cap="none" dirty="0">
                          <a:latin typeface="Times New Roman"/>
                          <a:ea typeface="Times New Roman"/>
                          <a:cs typeface="Times New Roman"/>
                          <a:sym typeface="Times New Roman"/>
                        </a:rPr>
                        <a:t>                                                                                                                                                     </a:t>
                      </a:r>
                      <a:endParaRPr sz="12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200" u="none" strike="noStrike" cap="none" dirty="0">
                          <a:latin typeface="Times New Roman"/>
                          <a:ea typeface="Times New Roman"/>
                          <a:cs typeface="Times New Roman"/>
                          <a:sym typeface="Times New Roman"/>
                        </a:rPr>
                        <a:t>  </a:t>
                      </a:r>
                      <a:r>
                        <a:rPr lang="en-US" sz="1200" u="none" strike="noStrike" cap="none" dirty="0" err="1">
                          <a:latin typeface="Times New Roman"/>
                          <a:ea typeface="Times New Roman"/>
                          <a:cs typeface="Times New Roman"/>
                          <a:sym typeface="Times New Roman"/>
                        </a:rPr>
                        <a:t>Nanjing,china</a:t>
                      </a:r>
                      <a:r>
                        <a:rPr lang="en-US" sz="1200" u="none" strike="noStrike" cap="none" dirty="0">
                          <a:latin typeface="Times New Roman"/>
                          <a:ea typeface="Times New Roman"/>
                          <a:cs typeface="Times New Roman"/>
                          <a:sym typeface="Times New Roman"/>
                        </a:rPr>
                        <a:t> in 2022  </a:t>
                      </a:r>
                      <a:endParaRPr sz="12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200" u="none" strike="noStrike" cap="none" dirty="0">
                          <a:latin typeface="Times New Roman"/>
                          <a:ea typeface="Times New Roman"/>
                          <a:cs typeface="Times New Roman"/>
                          <a:sym typeface="Times New Roman"/>
                        </a:rPr>
                        <a:t>low-</a:t>
                      </a:r>
                      <a:r>
                        <a:rPr lang="en-US" sz="1200" u="none" strike="noStrike" cap="none" dirty="0" err="1">
                          <a:latin typeface="Times New Roman"/>
                          <a:ea typeface="Times New Roman"/>
                          <a:cs typeface="Times New Roman"/>
                          <a:sym typeface="Times New Roman"/>
                        </a:rPr>
                        <a:t>facenet</a:t>
                      </a:r>
                      <a:r>
                        <a:rPr lang="en-US" sz="1200" u="none" strike="noStrike" cap="none" dirty="0">
                          <a:latin typeface="Times New Roman"/>
                          <a:ea typeface="Times New Roman"/>
                          <a:cs typeface="Times New Roman"/>
                          <a:sym typeface="Times New Roman"/>
                        </a:rPr>
                        <a:t>: face recognition –driven low-light image enhancement                            </a:t>
                      </a:r>
                      <a:endParaRPr sz="12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200" u="none" strike="noStrike" cap="none" dirty="0">
                          <a:latin typeface="Times New Roman"/>
                          <a:ea typeface="Times New Roman"/>
                          <a:cs typeface="Times New Roman"/>
                          <a:sym typeface="Times New Roman"/>
                        </a:rPr>
                        <a:t>To enhance low-light images for face recognition, first improve image visibility using techniques such as histogram equalization. Then, preprocess the enhanced images (resize and normalize) and extract facial embeddings using a model like </a:t>
                      </a:r>
                      <a:r>
                        <a:rPr lang="en-US" sz="1200" u="none" strike="noStrike" cap="none" dirty="0" err="1">
                          <a:latin typeface="Times New Roman"/>
                          <a:ea typeface="Times New Roman"/>
                          <a:cs typeface="Times New Roman"/>
                          <a:sym typeface="Times New Roman"/>
                        </a:rPr>
                        <a:t>FaceNet</a:t>
                      </a:r>
                      <a:r>
                        <a:rPr lang="en-US" sz="1200" u="none" strike="noStrike" cap="none" dirty="0">
                          <a:latin typeface="Times New Roman"/>
                          <a:ea typeface="Times New Roman"/>
                          <a:cs typeface="Times New Roman"/>
                          <a:sym typeface="Times New Roman"/>
                        </a:rPr>
                        <a:t> or VGG-Face. Finally, calculate the Euclidean distance between embeddings to determine if the faces are from the same person, comparing this distance to a predefined threshold to assess similarity.</a:t>
                      </a:r>
                      <a:endParaRPr sz="12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2682250">
                <a:tc>
                  <a:txBody>
                    <a:bodyPr/>
                    <a:lstStyle/>
                    <a:p>
                      <a:pPr marL="0" marR="0" lvl="0" indent="0" algn="ctr" rtl="0">
                        <a:spcBef>
                          <a:spcPts val="0"/>
                        </a:spcBef>
                        <a:spcAft>
                          <a:spcPts val="0"/>
                        </a:spcAft>
                        <a:buNone/>
                      </a:pPr>
                      <a:r>
                        <a:rPr lang="en-US" sz="1200" u="none" strike="noStrike" cap="none">
                          <a:latin typeface="Times New Roman"/>
                          <a:ea typeface="Times New Roman"/>
                          <a:cs typeface="Times New Roman"/>
                          <a:sym typeface="Times New Roman"/>
                        </a:rPr>
                        <a:t>2</a:t>
                      </a:r>
                      <a:endParaRPr/>
                    </a:p>
                  </a:txBody>
                  <a:tcPr marL="91450" marR="91450" marT="45725" marB="45725"/>
                </a:tc>
                <a:tc>
                  <a:txBody>
                    <a:bodyPr/>
                    <a:lstStyle/>
                    <a:p>
                      <a:pPr marL="0" marR="0" lvl="0" indent="0" algn="l" rtl="0">
                        <a:spcBef>
                          <a:spcPts val="0"/>
                        </a:spcBef>
                        <a:spcAft>
                          <a:spcPts val="0"/>
                        </a:spcAft>
                        <a:buNone/>
                      </a:pPr>
                      <a:r>
                        <a:rPr lang="en-IN" sz="1200" dirty="0">
                          <a:latin typeface="Times New Roman"/>
                          <a:ea typeface="Times New Roman"/>
                          <a:cs typeface="Times New Roman"/>
                          <a:sym typeface="Times New Roman"/>
                        </a:rPr>
                        <a:t>Nisha Raichur, Nidhi </a:t>
                      </a:r>
                      <a:r>
                        <a:rPr lang="en-IN" sz="1200" dirty="0" err="1">
                          <a:latin typeface="Times New Roman"/>
                          <a:ea typeface="Times New Roman"/>
                          <a:cs typeface="Times New Roman"/>
                          <a:sym typeface="Times New Roman"/>
                        </a:rPr>
                        <a:t>Lonakadi</a:t>
                      </a:r>
                      <a:r>
                        <a:rPr lang="en-IN" sz="1200" dirty="0">
                          <a:latin typeface="Times New Roman"/>
                          <a:ea typeface="Times New Roman"/>
                          <a:cs typeface="Times New Roman"/>
                          <a:sym typeface="Times New Roman"/>
                        </a:rPr>
                        <a:t>, Priyanka Mural</a:t>
                      </a:r>
                      <a:endParaRPr sz="12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200" dirty="0">
                          <a:latin typeface="Times New Roman" panose="02020603050405020304" pitchFamily="18" charset="0"/>
                          <a:cs typeface="Times New Roman" panose="02020603050405020304" pitchFamily="18" charset="0"/>
                        </a:rPr>
                        <a:t>International Journal of Engineering and Technology, vol.9, no. 3S, July 2017</a:t>
                      </a:r>
                      <a:r>
                        <a:rPr lang="en-US"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just" rtl="0">
                        <a:spcBef>
                          <a:spcPts val="0"/>
                        </a:spcBef>
                        <a:spcAft>
                          <a:spcPts val="0"/>
                        </a:spcAft>
                        <a:buNone/>
                      </a:pPr>
                      <a:r>
                        <a:rPr lang="en-US" sz="1200" dirty="0">
                          <a:latin typeface="Times New Roman"/>
                          <a:ea typeface="Times New Roman"/>
                          <a:cs typeface="Times New Roman"/>
                          <a:sym typeface="Times New Roman"/>
                        </a:rPr>
                        <a:t>Detection of Stress Using Image Processing and Machine Learning Techniques </a:t>
                      </a:r>
                      <a:endParaRPr sz="1200" dirty="0">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000" dirty="0">
                          <a:latin typeface="Times New Roman" panose="02020603050405020304" pitchFamily="18" charset="0"/>
                          <a:cs typeface="Times New Roman" panose="02020603050405020304" pitchFamily="18" charset="0"/>
                        </a:rPr>
                        <a:t>Stress is a part of life it is an unpleasant state of emotional arousal that people experience in situations like working for long hours in front of computer. Computers have become a way of life, much life is spent on the computers and hence we are therefore more affected by the ups and downs that they cause us. One cannot just completely avoid their work on computers but one can at least control his/her usage when being alarmed about him being stressed at certain point of time. Monitoring the emotional status of a person who is working in front of a computer for longer duration is crucial for the safety of a person. In this work a real-time non-intrusive videos are captured, which detects the emotional status of a person by </a:t>
                      </a:r>
                      <a:r>
                        <a:rPr lang="en-US" sz="1000" dirty="0" err="1">
                          <a:latin typeface="Times New Roman" panose="02020603050405020304" pitchFamily="18" charset="0"/>
                          <a:cs typeface="Times New Roman" panose="02020603050405020304" pitchFamily="18" charset="0"/>
                        </a:rPr>
                        <a:t>analysing</a:t>
                      </a:r>
                      <a:r>
                        <a:rPr lang="en-US" sz="1000" dirty="0">
                          <a:latin typeface="Times New Roman" panose="02020603050405020304" pitchFamily="18" charset="0"/>
                          <a:cs typeface="Times New Roman" panose="02020603050405020304" pitchFamily="18" charset="0"/>
                        </a:rPr>
                        <a:t> the facial expression. We detect an individual emotion in each video frame and the decision on the stress level is made in sequential hours of the video captured. We employ a technique that allows us to train a model and analyze differences in predicting the features. Theano is a python framework which aims at improving both the execution time and development time of the linear regression model which is used here as a deep learning algorithm. The experimental results show that the developed system is well on data with the generic model of all ages.</a:t>
                      </a:r>
                      <a:endParaRPr sz="10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6" name="Google Shape;176;p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dirty="0"/>
          </a:p>
        </p:txBody>
      </p:sp>
      <p:graphicFrame>
        <p:nvGraphicFramePr>
          <p:cNvPr id="177" name="Google Shape;177;p8"/>
          <p:cNvGraphicFramePr/>
          <p:nvPr>
            <p:extLst>
              <p:ext uri="{D42A27DB-BD31-4B8C-83A1-F6EECF244321}">
                <p14:modId xmlns:p14="http://schemas.microsoft.com/office/powerpoint/2010/main" val="3285102827"/>
              </p:ext>
            </p:extLst>
          </p:nvPr>
        </p:nvGraphicFramePr>
        <p:xfrm>
          <a:off x="559293" y="1442720"/>
          <a:ext cx="11343476" cy="4318150"/>
        </p:xfrm>
        <a:graphic>
          <a:graphicData uri="http://schemas.openxmlformats.org/drawingml/2006/table">
            <a:tbl>
              <a:tblPr firstRow="1" bandRow="1">
                <a:noFill/>
                <a:tableStyleId>{2D42FD62-2D95-49B5-AAF5-B657BEC087FE}</a:tableStyleId>
              </a:tblPr>
              <a:tblGrid>
                <a:gridCol w="825339">
                  <a:extLst>
                    <a:ext uri="{9D8B030D-6E8A-4147-A177-3AD203B41FA5}">
                      <a16:colId xmlns:a16="http://schemas.microsoft.com/office/drawing/2014/main" val="20000"/>
                    </a:ext>
                  </a:extLst>
                </a:gridCol>
                <a:gridCol w="1890579">
                  <a:extLst>
                    <a:ext uri="{9D8B030D-6E8A-4147-A177-3AD203B41FA5}">
                      <a16:colId xmlns:a16="http://schemas.microsoft.com/office/drawing/2014/main" val="20001"/>
                    </a:ext>
                  </a:extLst>
                </a:gridCol>
                <a:gridCol w="1834316">
                  <a:extLst>
                    <a:ext uri="{9D8B030D-6E8A-4147-A177-3AD203B41FA5}">
                      <a16:colId xmlns:a16="http://schemas.microsoft.com/office/drawing/2014/main" val="20002"/>
                    </a:ext>
                  </a:extLst>
                </a:gridCol>
                <a:gridCol w="2211753">
                  <a:extLst>
                    <a:ext uri="{9D8B030D-6E8A-4147-A177-3AD203B41FA5}">
                      <a16:colId xmlns:a16="http://schemas.microsoft.com/office/drawing/2014/main" val="20003"/>
                    </a:ext>
                  </a:extLst>
                </a:gridCol>
                <a:gridCol w="4581489">
                  <a:extLst>
                    <a:ext uri="{9D8B030D-6E8A-4147-A177-3AD203B41FA5}">
                      <a16:colId xmlns:a16="http://schemas.microsoft.com/office/drawing/2014/main" val="20004"/>
                    </a:ext>
                  </a:extLst>
                </a:gridCol>
              </a:tblGrid>
              <a:tr h="463268">
                <a:tc>
                  <a:txBody>
                    <a:bodyPr/>
                    <a:lstStyle/>
                    <a:p>
                      <a:pPr marL="0" marR="0" lvl="0" indent="0" algn="ctr" rtl="0">
                        <a:spcBef>
                          <a:spcPts val="0"/>
                        </a:spcBef>
                        <a:spcAft>
                          <a:spcPts val="0"/>
                        </a:spcAft>
                        <a:buNone/>
                      </a:pPr>
                      <a:r>
                        <a:rPr lang="en-US" sz="1800" b="1">
                          <a:latin typeface="Times New Roman"/>
                          <a:ea typeface="Times New Roman"/>
                          <a:cs typeface="Times New Roman"/>
                          <a:sym typeface="Times New Roman"/>
                        </a:rPr>
                        <a:t>Sno</a:t>
                      </a:r>
                      <a:endParaRPr sz="1800" b="1">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b="1" dirty="0">
                          <a:latin typeface="Times New Roman"/>
                          <a:ea typeface="Times New Roman"/>
                          <a:cs typeface="Times New Roman"/>
                          <a:sym typeface="Times New Roman"/>
                        </a:rPr>
                        <a:t>Authors</a:t>
                      </a:r>
                      <a:endParaRPr dirty="0"/>
                    </a:p>
                  </a:txBody>
                  <a:tcPr marL="91450" marR="91450" marT="45725" marB="45725"/>
                </a:tc>
                <a:tc>
                  <a:txBody>
                    <a:bodyPr/>
                    <a:lstStyle/>
                    <a:p>
                      <a:pPr marL="0" marR="0" lvl="0" indent="0" algn="ctr" rtl="0">
                        <a:spcBef>
                          <a:spcPts val="0"/>
                        </a:spcBef>
                        <a:spcAft>
                          <a:spcPts val="0"/>
                        </a:spcAft>
                        <a:buNone/>
                      </a:pPr>
                      <a:r>
                        <a:rPr lang="en-US" sz="1800" b="1">
                          <a:latin typeface="Times New Roman"/>
                          <a:ea typeface="Times New Roman"/>
                          <a:cs typeface="Times New Roman"/>
                          <a:sym typeface="Times New Roman"/>
                        </a:rPr>
                        <a:t>Journal &amp; Year</a:t>
                      </a:r>
                      <a:endParaRPr/>
                    </a:p>
                  </a:txBody>
                  <a:tcPr marL="91450" marR="91450" marT="45725" marB="45725"/>
                </a:tc>
                <a:tc>
                  <a:txBody>
                    <a:bodyPr/>
                    <a:lstStyle/>
                    <a:p>
                      <a:pPr marL="0" marR="0" lvl="0" indent="0" algn="ctr" rtl="0">
                        <a:spcBef>
                          <a:spcPts val="0"/>
                        </a:spcBef>
                        <a:spcAft>
                          <a:spcPts val="0"/>
                        </a:spcAft>
                        <a:buNone/>
                      </a:pPr>
                      <a:r>
                        <a:rPr lang="en-US" sz="1800" b="1">
                          <a:latin typeface="Times New Roman"/>
                          <a:ea typeface="Times New Roman"/>
                          <a:cs typeface="Times New Roman"/>
                          <a:sym typeface="Times New Roman"/>
                        </a:rPr>
                        <a:t>Title of the paper</a:t>
                      </a:r>
                      <a:endParaRPr/>
                    </a:p>
                  </a:txBody>
                  <a:tcPr marL="91450" marR="91450" marT="45725" marB="45725"/>
                </a:tc>
                <a:tc>
                  <a:txBody>
                    <a:bodyPr/>
                    <a:lstStyle/>
                    <a:p>
                      <a:pPr marL="0" marR="0" lvl="0" indent="0" algn="ctr" rtl="0">
                        <a:spcBef>
                          <a:spcPts val="0"/>
                        </a:spcBef>
                        <a:spcAft>
                          <a:spcPts val="0"/>
                        </a:spcAft>
                        <a:buNone/>
                      </a:pPr>
                      <a:r>
                        <a:rPr lang="en-US" sz="1800" b="1">
                          <a:latin typeface="Times New Roman"/>
                          <a:ea typeface="Times New Roman"/>
                          <a:cs typeface="Times New Roman"/>
                          <a:sym typeface="Times New Roman"/>
                        </a:rPr>
                        <a:t>Methodology</a:t>
                      </a:r>
                      <a:endParaRPr/>
                    </a:p>
                  </a:txBody>
                  <a:tcPr marL="91450" marR="91450" marT="45725" marB="45725"/>
                </a:tc>
                <a:extLst>
                  <a:ext uri="{0D108BD9-81ED-4DB2-BD59-A6C34878D82A}">
                    <a16:rowId xmlns:a16="http://schemas.microsoft.com/office/drawing/2014/main" val="10000"/>
                  </a:ext>
                </a:extLst>
              </a:tr>
              <a:tr h="2117512">
                <a:tc>
                  <a:txBody>
                    <a:bodyPr/>
                    <a:lstStyle/>
                    <a:p>
                      <a:pPr marL="0" marR="0" lvl="0" indent="0" algn="ctr" rtl="0">
                        <a:spcBef>
                          <a:spcPts val="0"/>
                        </a:spcBef>
                        <a:spcAft>
                          <a:spcPts val="0"/>
                        </a:spcAft>
                        <a:buNone/>
                      </a:pPr>
                      <a:r>
                        <a:rPr lang="en-US" sz="1200" dirty="0">
                          <a:latin typeface="Times New Roman"/>
                          <a:cs typeface="Times New Roman"/>
                          <a:sym typeface="Times New Roman"/>
                        </a:rPr>
                        <a:t>3</a:t>
                      </a:r>
                      <a:endParaRPr dirty="0"/>
                    </a:p>
                  </a:txBody>
                  <a:tcPr marL="91450" marR="91450" marT="45725" marB="45725"/>
                </a:tc>
                <a:tc>
                  <a:txBody>
                    <a:bodyPr/>
                    <a:lstStyle/>
                    <a:p>
                      <a:pPr marL="0" marR="0" lvl="0" indent="0" algn="l" rtl="0">
                        <a:spcBef>
                          <a:spcPts val="0"/>
                        </a:spcBef>
                        <a:spcAft>
                          <a:spcPts val="0"/>
                        </a:spcAft>
                        <a:buNone/>
                      </a:pPr>
                      <a:r>
                        <a:rPr lang="en-IN" sz="1200" dirty="0">
                          <a:latin typeface="Times New Roman"/>
                          <a:ea typeface="Times New Roman"/>
                          <a:cs typeface="Times New Roman"/>
                          <a:sym typeface="Times New Roman"/>
                        </a:rPr>
                        <a:t>D. K. </a:t>
                      </a:r>
                      <a:r>
                        <a:rPr lang="en-IN" sz="1200" dirty="0" err="1">
                          <a:latin typeface="Times New Roman"/>
                          <a:ea typeface="Times New Roman"/>
                          <a:cs typeface="Times New Roman"/>
                          <a:sym typeface="Times New Roman"/>
                        </a:rPr>
                        <a:t>Yashaswini</a:t>
                      </a:r>
                      <a:r>
                        <a:rPr lang="en-IN" sz="1200" dirty="0">
                          <a:latin typeface="Times New Roman"/>
                          <a:ea typeface="Times New Roman"/>
                          <a:cs typeface="Times New Roman"/>
                          <a:sym typeface="Times New Roman"/>
                        </a:rPr>
                        <a:t>, Sachin S. Bhat, Y. S. Sahana, </a:t>
                      </a:r>
                    </a:p>
                    <a:p>
                      <a:pPr marL="0" marR="0" lvl="0" indent="0" algn="l" rtl="0">
                        <a:spcBef>
                          <a:spcPts val="0"/>
                        </a:spcBef>
                        <a:spcAft>
                          <a:spcPts val="0"/>
                        </a:spcAft>
                        <a:buNone/>
                      </a:pPr>
                      <a:r>
                        <a:rPr lang="en-IN" sz="1200" dirty="0">
                          <a:latin typeface="Times New Roman"/>
                          <a:ea typeface="Times New Roman"/>
                          <a:cs typeface="Times New Roman"/>
                          <a:sym typeface="Times New Roman"/>
                        </a:rPr>
                        <a:t>M S. </a:t>
                      </a:r>
                      <a:r>
                        <a:rPr lang="en-IN" sz="1200" dirty="0" err="1">
                          <a:latin typeface="Times New Roman"/>
                          <a:ea typeface="Times New Roman"/>
                          <a:cs typeface="Times New Roman"/>
                          <a:sym typeface="Times New Roman"/>
                        </a:rPr>
                        <a:t>Shama</a:t>
                      </a:r>
                      <a:r>
                        <a:rPr lang="en-IN" sz="1200" dirty="0">
                          <a:latin typeface="Times New Roman"/>
                          <a:ea typeface="Times New Roman"/>
                          <a:cs typeface="Times New Roman"/>
                          <a:sym typeface="Times New Roman"/>
                        </a:rPr>
                        <a:t> </a:t>
                      </a:r>
                      <a:r>
                        <a:rPr lang="en-IN" sz="1200" dirty="0" err="1">
                          <a:latin typeface="Times New Roman"/>
                          <a:ea typeface="Times New Roman"/>
                          <a:cs typeface="Times New Roman"/>
                          <a:sym typeface="Times New Roman"/>
                        </a:rPr>
                        <a:t>Adiga</a:t>
                      </a:r>
                      <a:r>
                        <a:rPr lang="en-IN" sz="1200" dirty="0">
                          <a:latin typeface="Times New Roman"/>
                          <a:ea typeface="Times New Roman"/>
                          <a:cs typeface="Times New Roman"/>
                          <a:sym typeface="Times New Roman"/>
                        </a:rPr>
                        <a:t>, Shashank G. </a:t>
                      </a:r>
                      <a:r>
                        <a:rPr lang="en-IN" sz="1200" dirty="0" err="1">
                          <a:latin typeface="Times New Roman"/>
                          <a:ea typeface="Times New Roman"/>
                          <a:cs typeface="Times New Roman"/>
                          <a:sym typeface="Times New Roman"/>
                        </a:rPr>
                        <a:t>Dhanya</a:t>
                      </a:r>
                      <a:r>
                        <a:rPr lang="en-IN" sz="1200" dirty="0">
                          <a:latin typeface="Times New Roman"/>
                          <a:ea typeface="Times New Roman"/>
                          <a:cs typeface="Times New Roman"/>
                          <a:sym typeface="Times New Roman"/>
                        </a:rPr>
                        <a:t>  </a:t>
                      </a:r>
                      <a:endParaRPr sz="1200" dirty="0">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200" dirty="0">
                          <a:latin typeface="Times New Roman"/>
                          <a:ea typeface="Times New Roman"/>
                          <a:cs typeface="Times New Roman"/>
                          <a:sym typeface="Times New Roman"/>
                        </a:rPr>
                        <a:t>International Journal of Research in Engineering, Science and Management  Volume-2,  </a:t>
                      </a:r>
                    </a:p>
                    <a:p>
                      <a:pPr marL="0" marR="0" lvl="0" indent="0" algn="just" rtl="0">
                        <a:spcBef>
                          <a:spcPts val="0"/>
                        </a:spcBef>
                        <a:spcAft>
                          <a:spcPts val="0"/>
                        </a:spcAft>
                        <a:buNone/>
                      </a:pPr>
                      <a:r>
                        <a:rPr lang="en-US" sz="1200" dirty="0">
                          <a:latin typeface="Times New Roman"/>
                          <a:ea typeface="Times New Roman"/>
                          <a:cs typeface="Times New Roman"/>
                          <a:sym typeface="Times New Roman"/>
                        </a:rPr>
                        <a:t>Issue-8, August-2019</a:t>
                      </a:r>
                      <a:endParaRPr sz="1200" dirty="0">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200" dirty="0">
                          <a:latin typeface="Times New Roman"/>
                          <a:ea typeface="Times New Roman"/>
                          <a:cs typeface="Times New Roman"/>
                          <a:sym typeface="Times New Roman"/>
                        </a:rPr>
                        <a:t>Stress Detection using Deep Learning and IoT </a:t>
                      </a:r>
                      <a:endParaRPr sz="1200" dirty="0">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200" dirty="0">
                          <a:latin typeface="Times New Roman"/>
                          <a:ea typeface="Times New Roman"/>
                          <a:cs typeface="Times New Roman"/>
                          <a:sym typeface="Times New Roman"/>
                        </a:rPr>
                        <a:t>Stress is a part of life which is an unpleasant emotional state that people experience in situations like working for long hours in front of a computer. Stress can be positive, but it can affect your health if it's chronic. Thus, it is very much necessary to inform the person about his/her unhealthy lifestyle and even alarm him/her before any acute condition occurs. To detect the stress beforehand, a Deep Learning (DL) method is used where real-time images are captured, which detects the emotional status of a person by analyzing the facial expression and Internet of Things (IoT) is used to inform the patients about his/her stress condition.</a:t>
                      </a:r>
                      <a:endParaRPr sz="12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1737220">
                <a:tc>
                  <a:txBody>
                    <a:bodyPr/>
                    <a:lstStyle/>
                    <a:p>
                      <a:pPr marL="0" marR="0" lvl="0" indent="0" algn="ctr" rtl="0">
                        <a:spcBef>
                          <a:spcPts val="0"/>
                        </a:spcBef>
                        <a:spcAft>
                          <a:spcPts val="0"/>
                        </a:spcAft>
                        <a:buNone/>
                      </a:pPr>
                      <a:r>
                        <a:rPr lang="en-US" sz="1200" dirty="0">
                          <a:latin typeface="Times New Roman"/>
                          <a:cs typeface="Times New Roman"/>
                          <a:sym typeface="Times New Roman"/>
                        </a:rPr>
                        <a:t>4</a:t>
                      </a:r>
                      <a:endParaRPr dirty="0"/>
                    </a:p>
                  </a:txBody>
                  <a:tcPr marL="91450" marR="91450" marT="45725" marB="45725"/>
                </a:tc>
                <a:tc>
                  <a:txBody>
                    <a:bodyPr/>
                    <a:lstStyle/>
                    <a:p>
                      <a:pPr marL="0" marR="0" lvl="0" indent="0" algn="just" rtl="0">
                        <a:spcBef>
                          <a:spcPts val="0"/>
                        </a:spcBef>
                        <a:spcAft>
                          <a:spcPts val="0"/>
                        </a:spcAft>
                        <a:buNone/>
                      </a:pPr>
                      <a:r>
                        <a:rPr lang="en-IN" sz="1200" dirty="0" err="1">
                          <a:latin typeface="Times New Roman" panose="02020603050405020304" pitchFamily="18" charset="0"/>
                          <a:cs typeface="Times New Roman" panose="02020603050405020304" pitchFamily="18" charset="0"/>
                        </a:rPr>
                        <a:t>MS.N.Pavani,Associate</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Professor,P.Supriya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A.SiriChandana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B.Trinetra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S.V.N.S.S.Supriya</a:t>
                      </a:r>
                      <a:r>
                        <a:rPr lang="en-IN"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Times New Roman" panose="02020603050405020304" pitchFamily="18" charset="0"/>
                          <a:cs typeface="Times New Roman" panose="02020603050405020304" pitchFamily="18" charset="0"/>
                        </a:rPr>
                        <a:t>UGC Care Group I Journal ISSN : 2347-7180                                                                                  Vol-08 Issue-14 No. 02: 2021 </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just" rtl="0">
                        <a:spcBef>
                          <a:spcPts val="0"/>
                        </a:spcBef>
                        <a:spcAft>
                          <a:spcPts val="0"/>
                        </a:spcAft>
                        <a:buNone/>
                      </a:pPr>
                      <a:r>
                        <a:rPr lang="en-US" sz="1200" dirty="0">
                          <a:latin typeface="Times New Roman"/>
                          <a:ea typeface="Times New Roman"/>
                          <a:cs typeface="Times New Roman"/>
                          <a:sym typeface="Times New Roman"/>
                        </a:rPr>
                        <a:t>Stress detection using image processing and machine learning.</a:t>
                      </a:r>
                      <a:endParaRPr sz="1200" dirty="0">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200" dirty="0">
                          <a:latin typeface="Times New Roman" panose="02020603050405020304" pitchFamily="18" charset="0"/>
                          <a:cs typeface="Times New Roman" panose="02020603050405020304" pitchFamily="18" charset="0"/>
                        </a:rPr>
                        <a:t>The main motive of our project is to detect stress in the IT professionals using theatrical Machine learning and Image processing techniques. Our system is an enhanced version of the old stress detection systems </a:t>
                      </a:r>
                      <a:r>
                        <a:rPr lang="en-US" sz="1200" dirty="0" err="1">
                          <a:latin typeface="Times New Roman" panose="02020603050405020304" pitchFamily="18" charset="0"/>
                          <a:cs typeface="Times New Roman" panose="02020603050405020304" pitchFamily="18" charset="0"/>
                        </a:rPr>
                        <a:t>thatkeep</a:t>
                      </a:r>
                      <a:r>
                        <a:rPr lang="en-US" sz="1200" dirty="0">
                          <a:latin typeface="Times New Roman" panose="02020603050405020304" pitchFamily="18" charset="0"/>
                          <a:cs typeface="Times New Roman" panose="02020603050405020304" pitchFamily="18" charset="0"/>
                        </a:rPr>
                        <a:t> outlive detection and personal counseling. The system supports live </a:t>
                      </a:r>
                      <a:r>
                        <a:rPr lang="en-US" sz="1200" dirty="0" err="1">
                          <a:latin typeface="Times New Roman" panose="02020603050405020304" pitchFamily="18" charset="0"/>
                          <a:cs typeface="Times New Roman" panose="02020603050405020304" pitchFamily="18" charset="0"/>
                        </a:rPr>
                        <a:t>detectionand</a:t>
                      </a:r>
                      <a:r>
                        <a:rPr lang="en-US" sz="1200" dirty="0">
                          <a:latin typeface="Times New Roman" panose="02020603050405020304" pitchFamily="18" charset="0"/>
                          <a:cs typeface="Times New Roman" panose="02020603050405020304" pitchFamily="18" charset="0"/>
                        </a:rPr>
                        <a:t> regular analysis of employees. It detects both physical and mental stress levels and furnishes proper remedies by providing survey forms systematically. Our system mainly preventative measures that can help focuses on managing stress and you cope with it. </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3" name="Google Shape;183;p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dirty="0"/>
          </a:p>
        </p:txBody>
      </p:sp>
      <p:graphicFrame>
        <p:nvGraphicFramePr>
          <p:cNvPr id="184" name="Google Shape;184;p9"/>
          <p:cNvGraphicFramePr/>
          <p:nvPr>
            <p:extLst>
              <p:ext uri="{D42A27DB-BD31-4B8C-83A1-F6EECF244321}">
                <p14:modId xmlns:p14="http://schemas.microsoft.com/office/powerpoint/2010/main" val="614728861"/>
              </p:ext>
            </p:extLst>
          </p:nvPr>
        </p:nvGraphicFramePr>
        <p:xfrm>
          <a:off x="522663" y="1143565"/>
          <a:ext cx="11146674" cy="5131326"/>
        </p:xfrm>
        <a:graphic>
          <a:graphicData uri="http://schemas.openxmlformats.org/drawingml/2006/table">
            <a:tbl>
              <a:tblPr firstRow="1" bandRow="1">
                <a:noFill/>
                <a:tableStyleId>{2D42FD62-2D95-49B5-AAF5-B657BEC087FE}</a:tableStyleId>
              </a:tblPr>
              <a:tblGrid>
                <a:gridCol w="721317">
                  <a:extLst>
                    <a:ext uri="{9D8B030D-6E8A-4147-A177-3AD203B41FA5}">
                      <a16:colId xmlns:a16="http://schemas.microsoft.com/office/drawing/2014/main" val="20000"/>
                    </a:ext>
                  </a:extLst>
                </a:gridCol>
                <a:gridCol w="1799422">
                  <a:extLst>
                    <a:ext uri="{9D8B030D-6E8A-4147-A177-3AD203B41FA5}">
                      <a16:colId xmlns:a16="http://schemas.microsoft.com/office/drawing/2014/main" val="20001"/>
                    </a:ext>
                  </a:extLst>
                </a:gridCol>
                <a:gridCol w="1833971">
                  <a:extLst>
                    <a:ext uri="{9D8B030D-6E8A-4147-A177-3AD203B41FA5}">
                      <a16:colId xmlns:a16="http://schemas.microsoft.com/office/drawing/2014/main" val="20002"/>
                    </a:ext>
                  </a:extLst>
                </a:gridCol>
                <a:gridCol w="2171497">
                  <a:extLst>
                    <a:ext uri="{9D8B030D-6E8A-4147-A177-3AD203B41FA5}">
                      <a16:colId xmlns:a16="http://schemas.microsoft.com/office/drawing/2014/main" val="20003"/>
                    </a:ext>
                  </a:extLst>
                </a:gridCol>
                <a:gridCol w="4620467">
                  <a:extLst>
                    <a:ext uri="{9D8B030D-6E8A-4147-A177-3AD203B41FA5}">
                      <a16:colId xmlns:a16="http://schemas.microsoft.com/office/drawing/2014/main" val="20004"/>
                    </a:ext>
                  </a:extLst>
                </a:gridCol>
              </a:tblGrid>
              <a:tr h="460851">
                <a:tc>
                  <a:txBody>
                    <a:bodyPr/>
                    <a:lstStyle/>
                    <a:p>
                      <a:pPr marL="0" marR="0" lvl="0" indent="0" algn="ctr" rtl="0">
                        <a:spcBef>
                          <a:spcPts val="0"/>
                        </a:spcBef>
                        <a:spcAft>
                          <a:spcPts val="0"/>
                        </a:spcAft>
                        <a:buNone/>
                      </a:pPr>
                      <a:r>
                        <a:rPr lang="en-US" sz="1200" b="1">
                          <a:latin typeface="Times New Roman"/>
                          <a:ea typeface="Times New Roman"/>
                          <a:cs typeface="Times New Roman"/>
                          <a:sym typeface="Times New Roman"/>
                        </a:rPr>
                        <a:t>Sno</a:t>
                      </a:r>
                      <a:endParaRPr sz="1200" b="1">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200" b="1">
                          <a:latin typeface="Times New Roman"/>
                          <a:ea typeface="Times New Roman"/>
                          <a:cs typeface="Times New Roman"/>
                          <a:sym typeface="Times New Roman"/>
                        </a:rPr>
                        <a:t>Authors</a:t>
                      </a:r>
                      <a:endParaRPr sz="1200"/>
                    </a:p>
                  </a:txBody>
                  <a:tcPr marL="91450" marR="91450" marT="45725" marB="45725"/>
                </a:tc>
                <a:tc>
                  <a:txBody>
                    <a:bodyPr/>
                    <a:lstStyle/>
                    <a:p>
                      <a:pPr marL="0" marR="0" lvl="0" indent="0" algn="ctr" rtl="0">
                        <a:spcBef>
                          <a:spcPts val="0"/>
                        </a:spcBef>
                        <a:spcAft>
                          <a:spcPts val="0"/>
                        </a:spcAft>
                        <a:buNone/>
                      </a:pPr>
                      <a:r>
                        <a:rPr lang="en-US" sz="1200" b="1" dirty="0">
                          <a:latin typeface="Times New Roman"/>
                          <a:ea typeface="Times New Roman"/>
                          <a:cs typeface="Times New Roman"/>
                          <a:sym typeface="Times New Roman"/>
                        </a:rPr>
                        <a:t>Journal &amp; Year</a:t>
                      </a:r>
                      <a:endParaRPr sz="1200" dirty="0"/>
                    </a:p>
                  </a:txBody>
                  <a:tcPr marL="91450" marR="91450" marT="45725" marB="45725"/>
                </a:tc>
                <a:tc>
                  <a:txBody>
                    <a:bodyPr/>
                    <a:lstStyle/>
                    <a:p>
                      <a:pPr marL="0" marR="0" lvl="0" indent="0" algn="ctr" rtl="0">
                        <a:spcBef>
                          <a:spcPts val="0"/>
                        </a:spcBef>
                        <a:spcAft>
                          <a:spcPts val="0"/>
                        </a:spcAft>
                        <a:buNone/>
                      </a:pPr>
                      <a:r>
                        <a:rPr lang="en-US" sz="1200" b="1">
                          <a:latin typeface="Times New Roman"/>
                          <a:ea typeface="Times New Roman"/>
                          <a:cs typeface="Times New Roman"/>
                          <a:sym typeface="Times New Roman"/>
                        </a:rPr>
                        <a:t>Title of the paper</a:t>
                      </a:r>
                      <a:endParaRPr sz="1200"/>
                    </a:p>
                  </a:txBody>
                  <a:tcPr marL="91450" marR="91450" marT="45725" marB="45725"/>
                </a:tc>
                <a:tc>
                  <a:txBody>
                    <a:bodyPr/>
                    <a:lstStyle/>
                    <a:p>
                      <a:pPr marL="0" marR="0" lvl="0" indent="0" algn="ctr" rtl="0">
                        <a:spcBef>
                          <a:spcPts val="0"/>
                        </a:spcBef>
                        <a:spcAft>
                          <a:spcPts val="0"/>
                        </a:spcAft>
                        <a:buNone/>
                      </a:pPr>
                      <a:r>
                        <a:rPr lang="en-US" sz="1200" b="1">
                          <a:latin typeface="Times New Roman"/>
                          <a:ea typeface="Times New Roman"/>
                          <a:cs typeface="Times New Roman"/>
                          <a:sym typeface="Times New Roman"/>
                        </a:rPr>
                        <a:t>Methodology</a:t>
                      </a:r>
                      <a:endParaRPr sz="1200"/>
                    </a:p>
                  </a:txBody>
                  <a:tcPr marL="91450" marR="91450" marT="45725" marB="45725"/>
                </a:tc>
                <a:extLst>
                  <a:ext uri="{0D108BD9-81ED-4DB2-BD59-A6C34878D82A}">
                    <a16:rowId xmlns:a16="http://schemas.microsoft.com/office/drawing/2014/main" val="10000"/>
                  </a:ext>
                </a:extLst>
              </a:tr>
              <a:tr h="2403217">
                <a:tc>
                  <a:txBody>
                    <a:bodyPr/>
                    <a:lstStyle/>
                    <a:p>
                      <a:pPr marL="0" marR="0" lvl="0" indent="0" algn="ctr" rtl="0">
                        <a:spcBef>
                          <a:spcPts val="0"/>
                        </a:spcBef>
                        <a:spcAft>
                          <a:spcPts val="0"/>
                        </a:spcAft>
                        <a:buNone/>
                      </a:pPr>
                      <a:r>
                        <a:rPr lang="en-US" sz="1200" dirty="0">
                          <a:latin typeface="Times New Roman"/>
                          <a:cs typeface="Times New Roman"/>
                          <a:sym typeface="Times New Roman"/>
                        </a:rPr>
                        <a:t>5</a:t>
                      </a:r>
                      <a:endParaRPr sz="1200" dirty="0"/>
                    </a:p>
                  </a:txBody>
                  <a:tcPr marL="91450" marR="91450" marT="45725" marB="45725"/>
                </a:tc>
                <a:tc>
                  <a:txBody>
                    <a:bodyPr/>
                    <a:lstStyle/>
                    <a:p>
                      <a:pPr marL="0" marR="0" lvl="0" indent="0" algn="ctr" rtl="0">
                        <a:spcBef>
                          <a:spcPts val="0"/>
                        </a:spcBef>
                        <a:spcAft>
                          <a:spcPts val="0"/>
                        </a:spcAft>
                        <a:buNone/>
                      </a:pPr>
                      <a:r>
                        <a:rPr lang="en-IN" sz="1200" dirty="0" err="1">
                          <a:latin typeface="Times New Roman"/>
                          <a:ea typeface="Times New Roman"/>
                          <a:cs typeface="Times New Roman"/>
                          <a:sym typeface="Times New Roman"/>
                        </a:rPr>
                        <a:t>Zhijian</a:t>
                      </a:r>
                      <a:r>
                        <a:rPr lang="en-IN" sz="1200" dirty="0">
                          <a:latin typeface="Times New Roman"/>
                          <a:ea typeface="Times New Roman"/>
                          <a:cs typeface="Times New Roman"/>
                          <a:sym typeface="Times New Roman"/>
                        </a:rPr>
                        <a:t> Luo, </a:t>
                      </a:r>
                      <a:r>
                        <a:rPr lang="en-IN" sz="1200" dirty="0" err="1">
                          <a:latin typeface="Times New Roman"/>
                          <a:ea typeface="Times New Roman"/>
                          <a:cs typeface="Times New Roman"/>
                          <a:sym typeface="Times New Roman"/>
                        </a:rPr>
                        <a:t>Jiahui</a:t>
                      </a:r>
                      <a:r>
                        <a:rPr lang="en-IN" sz="1200" dirty="0">
                          <a:latin typeface="Times New Roman"/>
                          <a:ea typeface="Times New Roman"/>
                          <a:cs typeface="Times New Roman"/>
                          <a:sym typeface="Times New Roman"/>
                        </a:rPr>
                        <a:t> Tang, </a:t>
                      </a:r>
                      <a:r>
                        <a:rPr lang="en-IN" sz="1200" dirty="0" err="1">
                          <a:latin typeface="Times New Roman"/>
                          <a:ea typeface="Times New Roman"/>
                          <a:cs typeface="Times New Roman"/>
                          <a:sym typeface="Times New Roman"/>
                        </a:rPr>
                        <a:t>Yueen</a:t>
                      </a:r>
                      <a:r>
                        <a:rPr lang="en-IN" sz="1200" dirty="0">
                          <a:latin typeface="Times New Roman"/>
                          <a:ea typeface="Times New Roman"/>
                          <a:cs typeface="Times New Roman"/>
                          <a:sym typeface="Times New Roman"/>
                        </a:rPr>
                        <a:t> Hou, </a:t>
                      </a:r>
                      <a:r>
                        <a:rPr lang="en-IN" sz="1200" dirty="0" err="1">
                          <a:latin typeface="Times New Roman"/>
                          <a:ea typeface="Times New Roman"/>
                          <a:cs typeface="Times New Roman"/>
                          <a:sym typeface="Times New Roman"/>
                        </a:rPr>
                        <a:t>Zihan</a:t>
                      </a:r>
                      <a:r>
                        <a:rPr lang="en-IN" sz="1200" dirty="0">
                          <a:latin typeface="Times New Roman"/>
                          <a:ea typeface="Times New Roman"/>
                          <a:cs typeface="Times New Roman"/>
                          <a:sym typeface="Times New Roman"/>
                        </a:rPr>
                        <a:t> Huang and </a:t>
                      </a:r>
                      <a:r>
                        <a:rPr lang="en-IN" sz="1200" dirty="0" err="1">
                          <a:latin typeface="Times New Roman"/>
                          <a:ea typeface="Times New Roman"/>
                          <a:cs typeface="Times New Roman"/>
                          <a:sym typeface="Times New Roman"/>
                        </a:rPr>
                        <a:t>Yanzeng</a:t>
                      </a:r>
                      <a:r>
                        <a:rPr lang="en-IN" sz="1200" dirty="0">
                          <a:latin typeface="Times New Roman"/>
                          <a:ea typeface="Times New Roman"/>
                          <a:cs typeface="Times New Roman"/>
                          <a:sym typeface="Times New Roman"/>
                        </a:rPr>
                        <a:t> Gao</a:t>
                      </a:r>
                      <a:endParaRPr sz="12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200" dirty="0">
                          <a:latin typeface="Times New Roman"/>
                          <a:ea typeface="Times New Roman"/>
                          <a:cs typeface="Times New Roman"/>
                          <a:sym typeface="Times New Roman"/>
                        </a:rPr>
                        <a:t>School of Computer, </a:t>
                      </a:r>
                      <a:r>
                        <a:rPr lang="en-US" sz="1200" dirty="0" err="1">
                          <a:latin typeface="Times New Roman"/>
                          <a:ea typeface="Times New Roman"/>
                          <a:cs typeface="Times New Roman"/>
                          <a:sym typeface="Times New Roman"/>
                        </a:rPr>
                        <a:t>Jiaying</a:t>
                      </a:r>
                      <a:r>
                        <a:rPr lang="en-US" sz="1200" dirty="0">
                          <a:latin typeface="Times New Roman"/>
                          <a:ea typeface="Times New Roman"/>
                          <a:cs typeface="Times New Roman"/>
                          <a:sym typeface="Times New Roman"/>
                        </a:rPr>
                        <a:t> University, Meizhou, R. P. China, 514015 ,27-07-2023            </a:t>
                      </a:r>
                      <a:endParaRPr sz="1200" dirty="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200" dirty="0">
                          <a:latin typeface="Times New Roman"/>
                          <a:ea typeface="Times New Roman"/>
                          <a:cs typeface="Times New Roman"/>
                          <a:sym typeface="Times New Roman"/>
                        </a:rPr>
                        <a:t>Unsupervised Low Light Image Enhancement via SNR-Aware </a:t>
                      </a:r>
                      <a:r>
                        <a:rPr lang="en-US" sz="1200" dirty="0" err="1">
                          <a:latin typeface="Times New Roman"/>
                          <a:ea typeface="Times New Roman"/>
                          <a:cs typeface="Times New Roman"/>
                          <a:sym typeface="Times New Roman"/>
                        </a:rPr>
                        <a:t>Swin</a:t>
                      </a:r>
                      <a:r>
                        <a:rPr lang="en-US" sz="1200" dirty="0">
                          <a:latin typeface="Times New Roman"/>
                          <a:ea typeface="Times New Roman"/>
                          <a:cs typeface="Times New Roman"/>
                          <a:sym typeface="Times New Roman"/>
                        </a:rPr>
                        <a:t> Transformer</a:t>
                      </a:r>
                      <a:endParaRPr sz="1200" dirty="0">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200" dirty="0">
                          <a:latin typeface="Times New Roman"/>
                          <a:ea typeface="Times New Roman"/>
                          <a:cs typeface="Times New Roman"/>
                          <a:sym typeface="Times New Roman"/>
                        </a:rPr>
                        <a:t>Image captured under low-light conditions presents unpleasing artifacts, which debilitate the performance of feature extraction for many upstream visual tasks. Low-light image enhancement aims at improving brightness and contrast, and further reducing noise that corrupts the visual quality. Recently, many image restoration methods based on </a:t>
                      </a:r>
                      <a:r>
                        <a:rPr lang="en-US" sz="1200" dirty="0" err="1">
                          <a:latin typeface="Times New Roman"/>
                          <a:ea typeface="Times New Roman"/>
                          <a:cs typeface="Times New Roman"/>
                          <a:sym typeface="Times New Roman"/>
                        </a:rPr>
                        <a:t>Swin</a:t>
                      </a:r>
                      <a:r>
                        <a:rPr lang="en-US" sz="1200" dirty="0">
                          <a:latin typeface="Times New Roman"/>
                          <a:ea typeface="Times New Roman"/>
                          <a:cs typeface="Times New Roman"/>
                          <a:sym typeface="Times New Roman"/>
                        </a:rPr>
                        <a:t> Transformer have been proposed and achieve impressive performance. However, on one hand, trivially employing </a:t>
                      </a:r>
                      <a:r>
                        <a:rPr lang="en-US" sz="1200" dirty="0" err="1">
                          <a:latin typeface="Times New Roman"/>
                          <a:ea typeface="Times New Roman"/>
                          <a:cs typeface="Times New Roman"/>
                          <a:sym typeface="Times New Roman"/>
                        </a:rPr>
                        <a:t>Swin</a:t>
                      </a:r>
                      <a:r>
                        <a:rPr lang="en-US" sz="1200" dirty="0">
                          <a:latin typeface="Times New Roman"/>
                          <a:ea typeface="Times New Roman"/>
                          <a:cs typeface="Times New Roman"/>
                          <a:sym typeface="Times New Roman"/>
                        </a:rPr>
                        <a:t> Transformer for lowlight image enhancement would expose some artifacts, including over-exposure, brightness imbalance and noise corruption, etc. On the other hand, it is impractical to capture image pairs of low-light images and corresponding ground-truth, i.e. </a:t>
                      </a:r>
                      <a:r>
                        <a:rPr lang="en-US" sz="1200" dirty="0" err="1">
                          <a:latin typeface="Times New Roman"/>
                          <a:ea typeface="Times New Roman"/>
                          <a:cs typeface="Times New Roman"/>
                          <a:sym typeface="Times New Roman"/>
                        </a:rPr>
                        <a:t>wellexposed</a:t>
                      </a:r>
                      <a:r>
                        <a:rPr lang="en-US" sz="1200" dirty="0">
                          <a:latin typeface="Times New Roman"/>
                          <a:ea typeface="Times New Roman"/>
                          <a:cs typeface="Times New Roman"/>
                          <a:sym typeface="Times New Roman"/>
                        </a:rPr>
                        <a:t> image in same visual scene. In this paper, we propose a dual-branch network based on </a:t>
                      </a:r>
                      <a:r>
                        <a:rPr lang="en-US" sz="1200" dirty="0" err="1">
                          <a:latin typeface="Times New Roman"/>
                          <a:ea typeface="Times New Roman"/>
                          <a:cs typeface="Times New Roman"/>
                          <a:sym typeface="Times New Roman"/>
                        </a:rPr>
                        <a:t>Swin</a:t>
                      </a:r>
                      <a:r>
                        <a:rPr lang="en-US" sz="1200" dirty="0">
                          <a:latin typeface="Times New Roman"/>
                          <a:ea typeface="Times New Roman"/>
                          <a:cs typeface="Times New Roman"/>
                          <a:sym typeface="Times New Roman"/>
                        </a:rPr>
                        <a:t> Transformer, guided by a signal-to-noise ratio prior map which provides the </a:t>
                      </a:r>
                      <a:r>
                        <a:rPr lang="en-US" sz="1200" dirty="0" err="1">
                          <a:latin typeface="Times New Roman"/>
                          <a:ea typeface="Times New Roman"/>
                          <a:cs typeface="Times New Roman"/>
                          <a:sym typeface="Times New Roman"/>
                        </a:rPr>
                        <a:t>spatialvarying</a:t>
                      </a:r>
                      <a:r>
                        <a:rPr lang="en-US" sz="1200" dirty="0">
                          <a:latin typeface="Times New Roman"/>
                          <a:ea typeface="Times New Roman"/>
                          <a:cs typeface="Times New Roman"/>
                          <a:sym typeface="Times New Roman"/>
                        </a:rPr>
                        <a:t> information for low-light image enhancement.</a:t>
                      </a:r>
                      <a:endParaRPr sz="12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2018705">
                <a:tc>
                  <a:txBody>
                    <a:bodyPr/>
                    <a:lstStyle/>
                    <a:p>
                      <a:pPr marL="0" marR="0" lvl="0" indent="0" algn="ctr" rtl="0">
                        <a:spcBef>
                          <a:spcPts val="0"/>
                        </a:spcBef>
                        <a:spcAft>
                          <a:spcPts val="0"/>
                        </a:spcAft>
                        <a:buNone/>
                      </a:pPr>
                      <a:r>
                        <a:rPr lang="en-US" sz="1200" dirty="0">
                          <a:latin typeface="Times New Roman"/>
                          <a:cs typeface="Times New Roman"/>
                          <a:sym typeface="Times New Roman"/>
                        </a:rPr>
                        <a:t>6</a:t>
                      </a:r>
                      <a:endParaRPr sz="1200" dirty="0"/>
                    </a:p>
                  </a:txBody>
                  <a:tcPr marL="91450" marR="91450" marT="45725" marB="45725"/>
                </a:tc>
                <a:tc>
                  <a:txBody>
                    <a:bodyPr/>
                    <a:lstStyle/>
                    <a:p>
                      <a:pPr marL="0" marR="0" lvl="0" indent="0" algn="just" rtl="0">
                        <a:spcBef>
                          <a:spcPts val="0"/>
                        </a:spcBef>
                        <a:spcAft>
                          <a:spcPts val="0"/>
                        </a:spcAft>
                        <a:buNone/>
                      </a:pPr>
                      <a:r>
                        <a:rPr lang="fi-FI" sz="1200" dirty="0">
                          <a:latin typeface="Times New Roman" panose="02020603050405020304" pitchFamily="18" charset="0"/>
                          <a:cs typeface="Times New Roman" panose="02020603050405020304" pitchFamily="18" charset="0"/>
                        </a:rPr>
                        <a:t>shakil0304003 </a:t>
                      </a:r>
                    </a:p>
                  </a:txBody>
                  <a:tcPr marL="91450" marR="91450" marT="45725" marB="45725"/>
                </a:tc>
                <a:tc>
                  <a:txBody>
                    <a:bodyPr/>
                    <a:lstStyle/>
                    <a:p>
                      <a:pPr marL="0" marR="0" lvl="0" indent="0" algn="l" rtl="0">
                        <a:spcBef>
                          <a:spcPts val="0"/>
                        </a:spcBef>
                        <a:spcAft>
                          <a:spcPts val="0"/>
                        </a:spcAft>
                        <a:buNone/>
                      </a:pPr>
                      <a:r>
                        <a:rPr lang="en-IN" sz="1200" dirty="0">
                          <a:latin typeface="Times New Roman"/>
                          <a:ea typeface="Times New Roman"/>
                          <a:cs typeface="Times New Roman"/>
                          <a:sym typeface="Times New Roman"/>
                        </a:rPr>
                        <a:t> 20-09-2010</a:t>
                      </a:r>
                      <a:endParaRPr sz="1200" dirty="0">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200" dirty="0">
                          <a:latin typeface="Times New Roman"/>
                          <a:ea typeface="Times New Roman"/>
                          <a:cs typeface="Times New Roman"/>
                          <a:sym typeface="Times New Roman"/>
                        </a:rPr>
                        <a:t>Human Emotion Detection From image</a:t>
                      </a:r>
                      <a:endParaRPr sz="1200" dirty="0">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200" dirty="0">
                          <a:latin typeface="Times New Roman" panose="02020603050405020304" pitchFamily="18" charset="0"/>
                          <a:cs typeface="Times New Roman" panose="02020603050405020304" pitchFamily="18" charset="0"/>
                        </a:rPr>
                        <a:t>Human emotion detection from images involves preprocessing and resizing the image, detecting the face, extracting facial features using a deep learning model, and classifying the detected emotions using a specialized emotion classification model. The final step is mapping the model's predictions to specific emotions.</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3"/>
          <p:cNvSpPr txBox="1">
            <a:spLocks noGrp="1"/>
          </p:cNvSpPr>
          <p:nvPr>
            <p:ph type="title"/>
          </p:nvPr>
        </p:nvSpPr>
        <p:spPr>
          <a:xfrm>
            <a:off x="663261" y="-432060"/>
            <a:ext cx="9398000" cy="144938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sz="3600" b="1" dirty="0" err="1">
                <a:latin typeface="Times New Roman"/>
                <a:ea typeface="Times New Roman"/>
                <a:cs typeface="Times New Roman"/>
                <a:sym typeface="Times New Roman"/>
              </a:rPr>
              <a:t>BlOCK</a:t>
            </a:r>
            <a:r>
              <a:rPr lang="en-US" sz="3600" b="1" dirty="0">
                <a:latin typeface="Times New Roman"/>
                <a:ea typeface="Times New Roman"/>
                <a:cs typeface="Times New Roman"/>
                <a:sym typeface="Times New Roman"/>
              </a:rPr>
              <a:t> DIAGRAM</a:t>
            </a:r>
            <a:endParaRPr sz="3600" dirty="0"/>
          </a:p>
        </p:txBody>
      </p:sp>
      <p:pic>
        <p:nvPicPr>
          <p:cNvPr id="4" name="Content Placeholder 3">
            <a:extLst>
              <a:ext uri="{FF2B5EF4-FFF2-40B4-BE49-F238E27FC236}">
                <a16:creationId xmlns:a16="http://schemas.microsoft.com/office/drawing/2014/main" id="{5685601C-C6C8-4BC4-B36C-86898140F971}"/>
              </a:ext>
            </a:extLst>
          </p:cNvPr>
          <p:cNvPicPr>
            <a:picLocks noGrp="1" noChangeAspect="1"/>
          </p:cNvPicPr>
          <p:nvPr>
            <p:ph idx="1"/>
          </p:nvPr>
        </p:nvPicPr>
        <p:blipFill>
          <a:blip r:embed="rId3"/>
          <a:stretch>
            <a:fillRect/>
          </a:stretch>
        </p:blipFill>
        <p:spPr>
          <a:xfrm>
            <a:off x="4429125" y="4353478"/>
            <a:ext cx="1172685" cy="1125778"/>
          </a:xfrm>
        </p:spPr>
      </p:pic>
      <p:sp>
        <p:nvSpPr>
          <p:cNvPr id="6" name="Rectangle: Rounded Corners 5">
            <a:extLst>
              <a:ext uri="{FF2B5EF4-FFF2-40B4-BE49-F238E27FC236}">
                <a16:creationId xmlns:a16="http://schemas.microsoft.com/office/drawing/2014/main" id="{CBFF7F9F-5C50-4A91-9575-EA29BACF2C66}"/>
              </a:ext>
            </a:extLst>
          </p:cNvPr>
          <p:cNvSpPr/>
          <p:nvPr/>
        </p:nvSpPr>
        <p:spPr>
          <a:xfrm>
            <a:off x="332581" y="3627120"/>
            <a:ext cx="1206819" cy="611402"/>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7" name="TextBox 6">
            <a:extLst>
              <a:ext uri="{FF2B5EF4-FFF2-40B4-BE49-F238E27FC236}">
                <a16:creationId xmlns:a16="http://schemas.microsoft.com/office/drawing/2014/main" id="{64B2E3A6-FC18-42E7-ADDA-E0F651DFC0C1}"/>
              </a:ext>
            </a:extLst>
          </p:cNvPr>
          <p:cNvSpPr txBox="1"/>
          <p:nvPr/>
        </p:nvSpPr>
        <p:spPr>
          <a:xfrm>
            <a:off x="386080" y="3627120"/>
            <a:ext cx="1066800" cy="553998"/>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    Data</a:t>
            </a:r>
          </a:p>
          <a:p>
            <a:pPr algn="just"/>
            <a:r>
              <a:rPr lang="en-US" sz="1500" dirty="0">
                <a:latin typeface="Times New Roman" panose="02020603050405020304" pitchFamily="18" charset="0"/>
                <a:cs typeface="Times New Roman" panose="02020603050405020304" pitchFamily="18" charset="0"/>
              </a:rPr>
              <a:t>collections</a:t>
            </a:r>
            <a:endParaRPr lang="en-IN" sz="1500" dirty="0">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79D8D661-30E1-4DA4-B7B0-9D7AF8492E32}"/>
              </a:ext>
            </a:extLst>
          </p:cNvPr>
          <p:cNvSpPr/>
          <p:nvPr/>
        </p:nvSpPr>
        <p:spPr>
          <a:xfrm>
            <a:off x="1834040" y="3576320"/>
            <a:ext cx="1564640" cy="745014"/>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71E891-9AAB-4EA1-B70A-7A25D1F60549}"/>
              </a:ext>
            </a:extLst>
          </p:cNvPr>
          <p:cNvSpPr txBox="1"/>
          <p:nvPr/>
        </p:nvSpPr>
        <p:spPr>
          <a:xfrm>
            <a:off x="1981200" y="3627120"/>
            <a:ext cx="2062480" cy="52322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Data</a:t>
            </a:r>
          </a:p>
          <a:p>
            <a:r>
              <a:rPr lang="en-US" dirty="0">
                <a:latin typeface="Times New Roman" panose="02020603050405020304" pitchFamily="18" charset="0"/>
                <a:cs typeface="Times New Roman" panose="02020603050405020304" pitchFamily="18" charset="0"/>
              </a:rPr>
              <a:t>Augmentation</a:t>
            </a:r>
            <a:endParaRPr lang="en-IN" dirty="0">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8E377372-B1A3-46FD-A5D6-DE75526270AE}"/>
              </a:ext>
            </a:extLst>
          </p:cNvPr>
          <p:cNvSpPr/>
          <p:nvPr/>
        </p:nvSpPr>
        <p:spPr>
          <a:xfrm>
            <a:off x="3810320" y="2630487"/>
            <a:ext cx="2621280" cy="3089276"/>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11" name="Oval 10">
            <a:extLst>
              <a:ext uri="{FF2B5EF4-FFF2-40B4-BE49-F238E27FC236}">
                <a16:creationId xmlns:a16="http://schemas.microsoft.com/office/drawing/2014/main" id="{5827A072-BC6F-4433-BEAD-9FFD8AE323B0}"/>
              </a:ext>
            </a:extLst>
          </p:cNvPr>
          <p:cNvSpPr/>
          <p:nvPr/>
        </p:nvSpPr>
        <p:spPr>
          <a:xfrm>
            <a:off x="4145600" y="3068517"/>
            <a:ext cx="2032000" cy="477520"/>
          </a:xfrm>
          <a:prstGeom prst="ellipse">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093DB7E9-5AEF-4319-B127-2E87BD931796}"/>
              </a:ext>
            </a:extLst>
          </p:cNvPr>
          <p:cNvSpPr/>
          <p:nvPr/>
        </p:nvSpPr>
        <p:spPr>
          <a:xfrm>
            <a:off x="4104960" y="3761206"/>
            <a:ext cx="2032000" cy="477520"/>
          </a:xfrm>
          <a:prstGeom prst="ellipse">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A9C8A35-E388-471A-9022-A55EBA4A4BC1}"/>
              </a:ext>
            </a:extLst>
          </p:cNvPr>
          <p:cNvSpPr/>
          <p:nvPr/>
        </p:nvSpPr>
        <p:spPr>
          <a:xfrm>
            <a:off x="4175247" y="4427386"/>
            <a:ext cx="2032000" cy="477521"/>
          </a:xfrm>
          <a:prstGeom prst="ellipse">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F8DDB342-4FAF-4FE2-AB0E-4395981DF392}"/>
              </a:ext>
            </a:extLst>
          </p:cNvPr>
          <p:cNvSpPr/>
          <p:nvPr/>
        </p:nvSpPr>
        <p:spPr>
          <a:xfrm>
            <a:off x="4145600" y="5063292"/>
            <a:ext cx="2032000" cy="477520"/>
          </a:xfrm>
          <a:prstGeom prst="ellipse">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6445BE80-2E15-445B-9218-586663A9A1F7}"/>
              </a:ext>
            </a:extLst>
          </p:cNvPr>
          <p:cNvSpPr txBox="1"/>
          <p:nvPr/>
        </p:nvSpPr>
        <p:spPr>
          <a:xfrm>
            <a:off x="4378960" y="2736416"/>
            <a:ext cx="2397760" cy="314562"/>
          </a:xfrm>
          <a:prstGeom prst="rect">
            <a:avLst/>
          </a:prstGeom>
          <a:noFill/>
        </p:spPr>
        <p:txBody>
          <a:bodyPr wrap="square" rtlCol="0">
            <a:spAutoFit/>
          </a:bodyPr>
          <a:lstStyle/>
          <a:p>
            <a:r>
              <a:rPr lang="en-US" dirty="0"/>
              <a:t>      </a:t>
            </a:r>
            <a:r>
              <a:rPr lang="en-US" dirty="0">
                <a:latin typeface="Times New Roman" panose="02020603050405020304" pitchFamily="18" charset="0"/>
                <a:cs typeface="Times New Roman" panose="02020603050405020304" pitchFamily="18" charset="0"/>
              </a:rPr>
              <a:t>MODEL</a:t>
            </a: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6A2CAE98-0B94-44DA-A82F-04AD9E7641D0}"/>
              </a:ext>
            </a:extLst>
          </p:cNvPr>
          <p:cNvSpPr txBox="1"/>
          <p:nvPr/>
        </p:nvSpPr>
        <p:spPr>
          <a:xfrm>
            <a:off x="4643120" y="3119123"/>
            <a:ext cx="18999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CNN </a:t>
            </a:r>
            <a:endParaRPr lang="en-IN"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5AA9533-E0B8-4E5F-A99B-64CAC9C0D81B}"/>
              </a:ext>
            </a:extLst>
          </p:cNvPr>
          <p:cNvSpPr txBox="1"/>
          <p:nvPr/>
        </p:nvSpPr>
        <p:spPr>
          <a:xfrm>
            <a:off x="4511040" y="3867348"/>
            <a:ext cx="2032000" cy="307777"/>
          </a:xfrm>
          <a:prstGeom prst="rect">
            <a:avLst/>
          </a:prstGeom>
          <a:noFill/>
        </p:spPr>
        <p:txBody>
          <a:bodyPr wrap="square" rtlCol="0">
            <a:spAutoFit/>
          </a:bodyPr>
          <a:lstStyle/>
          <a:p>
            <a:r>
              <a:rPr lang="en-US" dirty="0"/>
              <a:t>      </a:t>
            </a:r>
            <a:r>
              <a:rPr lang="en-US" dirty="0">
                <a:latin typeface="Times New Roman" panose="02020603050405020304" pitchFamily="18" charset="0"/>
                <a:cs typeface="Times New Roman" panose="02020603050405020304" pitchFamily="18" charset="0"/>
              </a:rPr>
              <a:t>VIT</a:t>
            </a:r>
            <a:r>
              <a:rPr lang="en-US" dirty="0"/>
              <a:t> </a:t>
            </a:r>
            <a:endParaRPr lang="en-IN" dirty="0"/>
          </a:p>
        </p:txBody>
      </p:sp>
      <p:sp>
        <p:nvSpPr>
          <p:cNvPr id="18" name="TextBox 17">
            <a:extLst>
              <a:ext uri="{FF2B5EF4-FFF2-40B4-BE49-F238E27FC236}">
                <a16:creationId xmlns:a16="http://schemas.microsoft.com/office/drawing/2014/main" id="{41734B25-B51B-423B-AB6A-D225D0EA4DB7}"/>
              </a:ext>
            </a:extLst>
          </p:cNvPr>
          <p:cNvSpPr txBox="1"/>
          <p:nvPr/>
        </p:nvSpPr>
        <p:spPr>
          <a:xfrm>
            <a:off x="4643120" y="4491894"/>
            <a:ext cx="18999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VGG</a:t>
            </a:r>
            <a:endParaRPr lang="en-IN"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73797E2B-BC32-4E8E-A710-BC08CB597ABF}"/>
              </a:ext>
            </a:extLst>
          </p:cNvPr>
          <p:cNvSpPr txBox="1"/>
          <p:nvPr/>
        </p:nvSpPr>
        <p:spPr>
          <a:xfrm>
            <a:off x="4511040" y="5120983"/>
            <a:ext cx="2265680"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INCEPTION</a:t>
            </a:r>
            <a:endParaRPr lang="en-IN" dirty="0">
              <a:latin typeface="Times New Roman" panose="02020603050405020304" pitchFamily="18" charset="0"/>
              <a:cs typeface="Times New Roman" panose="02020603050405020304" pitchFamily="18" charset="0"/>
            </a:endParaRPr>
          </a:p>
        </p:txBody>
      </p:sp>
      <p:cxnSp>
        <p:nvCxnSpPr>
          <p:cNvPr id="21" name="Straight Arrow Connector 20">
            <a:extLst>
              <a:ext uri="{FF2B5EF4-FFF2-40B4-BE49-F238E27FC236}">
                <a16:creationId xmlns:a16="http://schemas.microsoft.com/office/drawing/2014/main" id="{B12F1384-67BE-404B-A981-F4AC89561AE4}"/>
              </a:ext>
            </a:extLst>
          </p:cNvPr>
          <p:cNvCxnSpPr>
            <a:cxnSpLocks/>
            <a:stCxn id="6" idx="3"/>
            <a:endCxn id="8" idx="1"/>
          </p:cNvCxnSpPr>
          <p:nvPr/>
        </p:nvCxnSpPr>
        <p:spPr>
          <a:xfrm>
            <a:off x="1539400" y="3932821"/>
            <a:ext cx="294640" cy="160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7DE24C1D-BF8E-48BD-803F-96DB35D8A4EE}"/>
              </a:ext>
            </a:extLst>
          </p:cNvPr>
          <p:cNvCxnSpPr/>
          <p:nvPr/>
        </p:nvCxnSpPr>
        <p:spPr>
          <a:xfrm>
            <a:off x="3398680" y="3948827"/>
            <a:ext cx="4116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Rectangle: Rounded Corners 23">
            <a:extLst>
              <a:ext uri="{FF2B5EF4-FFF2-40B4-BE49-F238E27FC236}">
                <a16:creationId xmlns:a16="http://schemas.microsoft.com/office/drawing/2014/main" id="{51CF835D-6DCB-4993-9F3E-C2C7E5C3A2F3}"/>
              </a:ext>
            </a:extLst>
          </p:cNvPr>
          <p:cNvSpPr/>
          <p:nvPr/>
        </p:nvSpPr>
        <p:spPr>
          <a:xfrm>
            <a:off x="7152640" y="2895599"/>
            <a:ext cx="1513840" cy="543067"/>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D6252707-0F34-43B5-9BBC-BDDE4E992F77}"/>
              </a:ext>
            </a:extLst>
          </p:cNvPr>
          <p:cNvSpPr/>
          <p:nvPr/>
        </p:nvSpPr>
        <p:spPr>
          <a:xfrm>
            <a:off x="7152640" y="3947360"/>
            <a:ext cx="1513840" cy="543067"/>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26" name="Rectangle: Rounded Corners 25">
            <a:extLst>
              <a:ext uri="{FF2B5EF4-FFF2-40B4-BE49-F238E27FC236}">
                <a16:creationId xmlns:a16="http://schemas.microsoft.com/office/drawing/2014/main" id="{EBA494FC-F1F6-4705-A0F7-E6E8D4718DBA}"/>
              </a:ext>
            </a:extLst>
          </p:cNvPr>
          <p:cNvSpPr/>
          <p:nvPr/>
        </p:nvSpPr>
        <p:spPr>
          <a:xfrm>
            <a:off x="7152640" y="5010886"/>
            <a:ext cx="1513840" cy="543067"/>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59E7A101-6DB1-422A-86C6-F7E9376218C2}"/>
              </a:ext>
            </a:extLst>
          </p:cNvPr>
          <p:cNvSpPr txBox="1"/>
          <p:nvPr/>
        </p:nvSpPr>
        <p:spPr>
          <a:xfrm>
            <a:off x="7422199" y="2997855"/>
            <a:ext cx="134112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Training</a:t>
            </a:r>
            <a:endParaRPr lang="en-IN" sz="16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0C07279F-1601-45EC-B0D6-3CA44AA5E903}"/>
              </a:ext>
            </a:extLst>
          </p:cNvPr>
          <p:cNvSpPr txBox="1"/>
          <p:nvPr/>
        </p:nvSpPr>
        <p:spPr>
          <a:xfrm>
            <a:off x="7574279" y="4021236"/>
            <a:ext cx="12598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Test</a:t>
            </a:r>
            <a:endParaRPr lang="en-IN" sz="160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4A61CB3E-7B9D-457F-91D7-59E8156BA3E1}"/>
              </a:ext>
            </a:extLst>
          </p:cNvPr>
          <p:cNvSpPr txBox="1"/>
          <p:nvPr/>
        </p:nvSpPr>
        <p:spPr>
          <a:xfrm>
            <a:off x="7335200" y="5105594"/>
            <a:ext cx="133128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Validation</a:t>
            </a:r>
            <a:endParaRPr lang="en-IN" sz="1600" dirty="0">
              <a:latin typeface="Times New Roman" panose="02020603050405020304" pitchFamily="18" charset="0"/>
              <a:cs typeface="Times New Roman" panose="02020603050405020304" pitchFamily="18" charset="0"/>
            </a:endParaRPr>
          </a:p>
        </p:txBody>
      </p:sp>
      <p:sp>
        <p:nvSpPr>
          <p:cNvPr id="30" name="Rectangle: Rounded Corners 29">
            <a:extLst>
              <a:ext uri="{FF2B5EF4-FFF2-40B4-BE49-F238E27FC236}">
                <a16:creationId xmlns:a16="http://schemas.microsoft.com/office/drawing/2014/main" id="{09714E28-555C-4A43-B6D2-AE72EB5E3A24}"/>
              </a:ext>
            </a:extLst>
          </p:cNvPr>
          <p:cNvSpPr/>
          <p:nvPr/>
        </p:nvSpPr>
        <p:spPr>
          <a:xfrm>
            <a:off x="6258560" y="1950720"/>
            <a:ext cx="1645920" cy="717551"/>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7E35F776-43E0-4D20-8FD3-2681AA9A53B1}"/>
              </a:ext>
            </a:extLst>
          </p:cNvPr>
          <p:cNvSpPr txBox="1"/>
          <p:nvPr/>
        </p:nvSpPr>
        <p:spPr>
          <a:xfrm>
            <a:off x="6395720" y="2011223"/>
            <a:ext cx="1554480"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Hold-Out cross</a:t>
            </a:r>
          </a:p>
          <a:p>
            <a:r>
              <a:rPr lang="en-US" sz="1600" dirty="0">
                <a:latin typeface="Times New Roman" panose="02020603050405020304" pitchFamily="18" charset="0"/>
                <a:cs typeface="Times New Roman" panose="02020603050405020304" pitchFamily="18" charset="0"/>
              </a:rPr>
              <a:t>   validation</a:t>
            </a:r>
            <a:endParaRPr lang="en-IN" sz="1600" dirty="0">
              <a:latin typeface="Times New Roman" panose="02020603050405020304" pitchFamily="18" charset="0"/>
              <a:cs typeface="Times New Roman" panose="02020603050405020304" pitchFamily="18" charset="0"/>
            </a:endParaRPr>
          </a:p>
        </p:txBody>
      </p:sp>
      <p:cxnSp>
        <p:nvCxnSpPr>
          <p:cNvPr id="33" name="Straight Arrow Connector 32">
            <a:extLst>
              <a:ext uri="{FF2B5EF4-FFF2-40B4-BE49-F238E27FC236}">
                <a16:creationId xmlns:a16="http://schemas.microsoft.com/office/drawing/2014/main" id="{3E0E4ECE-5B67-4CB3-819C-CEB12B3E7C77}"/>
              </a:ext>
            </a:extLst>
          </p:cNvPr>
          <p:cNvCxnSpPr>
            <a:endCxn id="24" idx="1"/>
          </p:cNvCxnSpPr>
          <p:nvPr/>
        </p:nvCxnSpPr>
        <p:spPr>
          <a:xfrm>
            <a:off x="6776720" y="3167132"/>
            <a:ext cx="37592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6E0B6FC4-4A28-4D34-AF24-CB93EB97064B}"/>
              </a:ext>
            </a:extLst>
          </p:cNvPr>
          <p:cNvCxnSpPr/>
          <p:nvPr/>
        </p:nvCxnSpPr>
        <p:spPr>
          <a:xfrm>
            <a:off x="6776720" y="3167132"/>
            <a:ext cx="0" cy="2107739"/>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9D24044D-36D9-4BD5-98FE-97FD31F2AA7D}"/>
              </a:ext>
            </a:extLst>
          </p:cNvPr>
          <p:cNvCxnSpPr>
            <a:endCxn id="26" idx="1"/>
          </p:cNvCxnSpPr>
          <p:nvPr/>
        </p:nvCxnSpPr>
        <p:spPr>
          <a:xfrm>
            <a:off x="6776720" y="5274871"/>
            <a:ext cx="375920" cy="75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33F72E18-3872-46FC-83CD-82571E5DED01}"/>
              </a:ext>
            </a:extLst>
          </p:cNvPr>
          <p:cNvCxnSpPr>
            <a:endCxn id="25" idx="1"/>
          </p:cNvCxnSpPr>
          <p:nvPr/>
        </p:nvCxnSpPr>
        <p:spPr>
          <a:xfrm>
            <a:off x="6776720" y="4218893"/>
            <a:ext cx="37592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6567DAF3-CC40-4701-94F5-23B0245BF09D}"/>
              </a:ext>
            </a:extLst>
          </p:cNvPr>
          <p:cNvCxnSpPr/>
          <p:nvPr/>
        </p:nvCxnSpPr>
        <p:spPr>
          <a:xfrm>
            <a:off x="6431600" y="4490427"/>
            <a:ext cx="3451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4C2E4275-FFEA-42E8-9244-F26FE371B6A6}"/>
              </a:ext>
            </a:extLst>
          </p:cNvPr>
          <p:cNvCxnSpPr/>
          <p:nvPr/>
        </p:nvCxnSpPr>
        <p:spPr>
          <a:xfrm>
            <a:off x="6604160" y="2668271"/>
            <a:ext cx="0" cy="18221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7" name="Rectangle: Rounded Corners 56">
            <a:extLst>
              <a:ext uri="{FF2B5EF4-FFF2-40B4-BE49-F238E27FC236}">
                <a16:creationId xmlns:a16="http://schemas.microsoft.com/office/drawing/2014/main" id="{067B87C6-AFE5-4D96-87BB-846329A885A7}"/>
              </a:ext>
            </a:extLst>
          </p:cNvPr>
          <p:cNvSpPr/>
          <p:nvPr/>
        </p:nvSpPr>
        <p:spPr>
          <a:xfrm>
            <a:off x="9060417" y="1899116"/>
            <a:ext cx="2397758" cy="3979228"/>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8" name="Rectangle 57">
            <a:extLst>
              <a:ext uri="{FF2B5EF4-FFF2-40B4-BE49-F238E27FC236}">
                <a16:creationId xmlns:a16="http://schemas.microsoft.com/office/drawing/2014/main" id="{5E3ACA76-2B52-49FC-B46F-B7E4BB14090F}"/>
              </a:ext>
            </a:extLst>
          </p:cNvPr>
          <p:cNvSpPr/>
          <p:nvPr/>
        </p:nvSpPr>
        <p:spPr>
          <a:xfrm>
            <a:off x="9397920" y="2133600"/>
            <a:ext cx="1757760" cy="462397"/>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59" name="Rectangle 58">
            <a:extLst>
              <a:ext uri="{FF2B5EF4-FFF2-40B4-BE49-F238E27FC236}">
                <a16:creationId xmlns:a16="http://schemas.microsoft.com/office/drawing/2014/main" id="{E9A6AD5A-C754-407F-BB8B-2D71EF72B3EE}"/>
              </a:ext>
            </a:extLst>
          </p:cNvPr>
          <p:cNvSpPr/>
          <p:nvPr/>
        </p:nvSpPr>
        <p:spPr>
          <a:xfrm>
            <a:off x="9397920" y="2809539"/>
            <a:ext cx="1744740" cy="462397"/>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60" name="Rectangle 59">
            <a:extLst>
              <a:ext uri="{FF2B5EF4-FFF2-40B4-BE49-F238E27FC236}">
                <a16:creationId xmlns:a16="http://schemas.microsoft.com/office/drawing/2014/main" id="{A8F337DD-5D7B-4762-912A-D3916AC3B0AF}"/>
              </a:ext>
            </a:extLst>
          </p:cNvPr>
          <p:cNvSpPr/>
          <p:nvPr/>
        </p:nvSpPr>
        <p:spPr>
          <a:xfrm>
            <a:off x="9397919" y="3485479"/>
            <a:ext cx="1739819" cy="461882"/>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61" name="Rectangle 60">
            <a:extLst>
              <a:ext uri="{FF2B5EF4-FFF2-40B4-BE49-F238E27FC236}">
                <a16:creationId xmlns:a16="http://schemas.microsoft.com/office/drawing/2014/main" id="{FAC93EC7-8704-4028-A081-F5E44F34802E}"/>
              </a:ext>
            </a:extLst>
          </p:cNvPr>
          <p:cNvSpPr/>
          <p:nvPr/>
        </p:nvSpPr>
        <p:spPr>
          <a:xfrm>
            <a:off x="9397919" y="4160905"/>
            <a:ext cx="1776771" cy="461882"/>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62" name="Rectangle 61">
            <a:extLst>
              <a:ext uri="{FF2B5EF4-FFF2-40B4-BE49-F238E27FC236}">
                <a16:creationId xmlns:a16="http://schemas.microsoft.com/office/drawing/2014/main" id="{4E1FDF41-EC14-4B1F-9B12-D6D587196E77}"/>
              </a:ext>
            </a:extLst>
          </p:cNvPr>
          <p:cNvSpPr/>
          <p:nvPr/>
        </p:nvSpPr>
        <p:spPr>
          <a:xfrm>
            <a:off x="9397919" y="4804214"/>
            <a:ext cx="1776771" cy="461882"/>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63" name="Rectangle 62">
            <a:extLst>
              <a:ext uri="{FF2B5EF4-FFF2-40B4-BE49-F238E27FC236}">
                <a16:creationId xmlns:a16="http://schemas.microsoft.com/office/drawing/2014/main" id="{C7FDC0A9-0EA2-4C27-8AF8-2B41BA4FDFC5}"/>
              </a:ext>
            </a:extLst>
          </p:cNvPr>
          <p:cNvSpPr/>
          <p:nvPr/>
        </p:nvSpPr>
        <p:spPr>
          <a:xfrm>
            <a:off x="9397919" y="5407106"/>
            <a:ext cx="1776771" cy="384094"/>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92" name="TextBox 191">
            <a:extLst>
              <a:ext uri="{FF2B5EF4-FFF2-40B4-BE49-F238E27FC236}">
                <a16:creationId xmlns:a16="http://schemas.microsoft.com/office/drawing/2014/main" id="{2DB7A766-D695-491B-8CF4-38071BD5D8F2}"/>
              </a:ext>
            </a:extLst>
          </p:cNvPr>
          <p:cNvSpPr txBox="1"/>
          <p:nvPr/>
        </p:nvSpPr>
        <p:spPr>
          <a:xfrm>
            <a:off x="9707880" y="2205096"/>
            <a:ext cx="15138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ANGER</a:t>
            </a:r>
            <a:endParaRPr lang="en-IN" sz="1600" dirty="0">
              <a:latin typeface="Times New Roman" panose="02020603050405020304" pitchFamily="18" charset="0"/>
              <a:cs typeface="Times New Roman" panose="02020603050405020304" pitchFamily="18" charset="0"/>
            </a:endParaRPr>
          </a:p>
        </p:txBody>
      </p:sp>
      <p:sp>
        <p:nvSpPr>
          <p:cNvPr id="193" name="TextBox 192">
            <a:extLst>
              <a:ext uri="{FF2B5EF4-FFF2-40B4-BE49-F238E27FC236}">
                <a16:creationId xmlns:a16="http://schemas.microsoft.com/office/drawing/2014/main" id="{E13D7E65-191A-4D0C-A440-6C73E3806759}"/>
              </a:ext>
            </a:extLst>
          </p:cNvPr>
          <p:cNvSpPr txBox="1"/>
          <p:nvPr/>
        </p:nvSpPr>
        <p:spPr>
          <a:xfrm>
            <a:off x="9593341" y="2901370"/>
            <a:ext cx="1430258"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CONTEMPT</a:t>
            </a:r>
            <a:endParaRPr lang="en-IN" sz="1600" dirty="0">
              <a:latin typeface="Times New Roman" panose="02020603050405020304" pitchFamily="18" charset="0"/>
              <a:cs typeface="Times New Roman" panose="02020603050405020304" pitchFamily="18" charset="0"/>
            </a:endParaRPr>
          </a:p>
        </p:txBody>
      </p:sp>
      <p:sp>
        <p:nvSpPr>
          <p:cNvPr id="194" name="TextBox 193">
            <a:extLst>
              <a:ext uri="{FF2B5EF4-FFF2-40B4-BE49-F238E27FC236}">
                <a16:creationId xmlns:a16="http://schemas.microsoft.com/office/drawing/2014/main" id="{9C36F361-F539-4E0B-B9AE-3FC14DD59FA8}"/>
              </a:ext>
            </a:extLst>
          </p:cNvPr>
          <p:cNvSpPr txBox="1"/>
          <p:nvPr/>
        </p:nvSpPr>
        <p:spPr>
          <a:xfrm>
            <a:off x="9659899" y="3557002"/>
            <a:ext cx="167092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DISGUST</a:t>
            </a:r>
            <a:endParaRPr lang="en-IN" sz="1600" dirty="0">
              <a:latin typeface="Times New Roman" panose="02020603050405020304" pitchFamily="18" charset="0"/>
              <a:cs typeface="Times New Roman" panose="02020603050405020304" pitchFamily="18" charset="0"/>
            </a:endParaRPr>
          </a:p>
        </p:txBody>
      </p:sp>
      <p:sp>
        <p:nvSpPr>
          <p:cNvPr id="195" name="TextBox 194">
            <a:extLst>
              <a:ext uri="{FF2B5EF4-FFF2-40B4-BE49-F238E27FC236}">
                <a16:creationId xmlns:a16="http://schemas.microsoft.com/office/drawing/2014/main" id="{84984C2A-B0A4-4FAD-A26A-E155136A1B1E}"/>
              </a:ext>
            </a:extLst>
          </p:cNvPr>
          <p:cNvSpPr txBox="1"/>
          <p:nvPr/>
        </p:nvSpPr>
        <p:spPr>
          <a:xfrm>
            <a:off x="9893858" y="4230945"/>
            <a:ext cx="1701718"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FEAR</a:t>
            </a:r>
            <a:endParaRPr lang="en-IN" sz="1600" dirty="0">
              <a:latin typeface="Times New Roman" panose="02020603050405020304" pitchFamily="18" charset="0"/>
              <a:cs typeface="Times New Roman" panose="02020603050405020304" pitchFamily="18" charset="0"/>
            </a:endParaRPr>
          </a:p>
        </p:txBody>
      </p:sp>
      <p:sp>
        <p:nvSpPr>
          <p:cNvPr id="196" name="TextBox 195">
            <a:extLst>
              <a:ext uri="{FF2B5EF4-FFF2-40B4-BE49-F238E27FC236}">
                <a16:creationId xmlns:a16="http://schemas.microsoft.com/office/drawing/2014/main" id="{DFA6AF30-D9F0-43A3-B456-29CC14AAB5AB}"/>
              </a:ext>
            </a:extLst>
          </p:cNvPr>
          <p:cNvSpPr txBox="1"/>
          <p:nvPr/>
        </p:nvSpPr>
        <p:spPr>
          <a:xfrm>
            <a:off x="9763599" y="4885178"/>
            <a:ext cx="1701719"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HAPPY</a:t>
            </a:r>
            <a:endParaRPr lang="en-IN" sz="1600" dirty="0">
              <a:latin typeface="Times New Roman" panose="02020603050405020304" pitchFamily="18" charset="0"/>
              <a:cs typeface="Times New Roman" panose="02020603050405020304" pitchFamily="18" charset="0"/>
            </a:endParaRPr>
          </a:p>
        </p:txBody>
      </p:sp>
      <p:sp>
        <p:nvSpPr>
          <p:cNvPr id="197" name="TextBox 196">
            <a:extLst>
              <a:ext uri="{FF2B5EF4-FFF2-40B4-BE49-F238E27FC236}">
                <a16:creationId xmlns:a16="http://schemas.microsoft.com/office/drawing/2014/main" id="{104D945E-3550-4727-81F4-BAB17A73AA60}"/>
              </a:ext>
            </a:extLst>
          </p:cNvPr>
          <p:cNvSpPr txBox="1"/>
          <p:nvPr/>
        </p:nvSpPr>
        <p:spPr>
          <a:xfrm>
            <a:off x="9729351" y="5444148"/>
            <a:ext cx="1470898"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SADNESS</a:t>
            </a:r>
            <a:endParaRPr lang="en-IN" sz="1600" dirty="0">
              <a:latin typeface="Times New Roman" panose="02020603050405020304" pitchFamily="18" charset="0"/>
              <a:cs typeface="Times New Roman" panose="02020603050405020304" pitchFamily="18" charset="0"/>
            </a:endParaRPr>
          </a:p>
        </p:txBody>
      </p:sp>
      <p:sp>
        <p:nvSpPr>
          <p:cNvPr id="199" name="TextBox 198">
            <a:extLst>
              <a:ext uri="{FF2B5EF4-FFF2-40B4-BE49-F238E27FC236}">
                <a16:creationId xmlns:a16="http://schemas.microsoft.com/office/drawing/2014/main" id="{027C1261-9057-493D-9B71-175660460703}"/>
              </a:ext>
            </a:extLst>
          </p:cNvPr>
          <p:cNvSpPr txBox="1"/>
          <p:nvPr/>
        </p:nvSpPr>
        <p:spPr>
          <a:xfrm>
            <a:off x="9745741" y="1601446"/>
            <a:ext cx="1338819"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OUTPUT</a:t>
            </a:r>
            <a:endParaRPr lang="en-IN" sz="1600" dirty="0">
              <a:latin typeface="Times New Roman" panose="02020603050405020304" pitchFamily="18" charset="0"/>
              <a:cs typeface="Times New Roman" panose="02020603050405020304" pitchFamily="18" charset="0"/>
            </a:endParaRPr>
          </a:p>
        </p:txBody>
      </p:sp>
      <p:cxnSp>
        <p:nvCxnSpPr>
          <p:cNvPr id="206" name="Straight Connector 205">
            <a:extLst>
              <a:ext uri="{FF2B5EF4-FFF2-40B4-BE49-F238E27FC236}">
                <a16:creationId xmlns:a16="http://schemas.microsoft.com/office/drawing/2014/main" id="{B111F4B5-A95A-44C4-A885-67C172E3A09F}"/>
              </a:ext>
            </a:extLst>
          </p:cNvPr>
          <p:cNvCxnSpPr/>
          <p:nvPr/>
        </p:nvCxnSpPr>
        <p:spPr>
          <a:xfrm>
            <a:off x="8834119" y="3119123"/>
            <a:ext cx="0" cy="2182929"/>
          </a:xfrm>
          <a:prstGeom prst="line">
            <a:avLst/>
          </a:prstGeom>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D1892D0E-AACB-4E01-B6A0-5CD3E6F3A32D}"/>
              </a:ext>
            </a:extLst>
          </p:cNvPr>
          <p:cNvCxnSpPr/>
          <p:nvPr/>
        </p:nvCxnSpPr>
        <p:spPr>
          <a:xfrm>
            <a:off x="8834119" y="3761206"/>
            <a:ext cx="2262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9" name="Straight Arrow Connector 218">
            <a:extLst>
              <a:ext uri="{FF2B5EF4-FFF2-40B4-BE49-F238E27FC236}">
                <a16:creationId xmlns:a16="http://schemas.microsoft.com/office/drawing/2014/main" id="{BFB69579-6FA5-4D03-B070-7198B47F1ABC}"/>
              </a:ext>
            </a:extLst>
          </p:cNvPr>
          <p:cNvCxnSpPr>
            <a:cxnSpLocks/>
          </p:cNvCxnSpPr>
          <p:nvPr/>
        </p:nvCxnSpPr>
        <p:spPr>
          <a:xfrm>
            <a:off x="8666480" y="4230945"/>
            <a:ext cx="182304" cy="75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5" name="Straight Arrow Connector 224">
            <a:extLst>
              <a:ext uri="{FF2B5EF4-FFF2-40B4-BE49-F238E27FC236}">
                <a16:creationId xmlns:a16="http://schemas.microsoft.com/office/drawing/2014/main" id="{00700A0E-4D05-43E8-81CE-B5644041C153}"/>
              </a:ext>
            </a:extLst>
          </p:cNvPr>
          <p:cNvCxnSpPr>
            <a:stCxn id="29" idx="3"/>
          </p:cNvCxnSpPr>
          <p:nvPr/>
        </p:nvCxnSpPr>
        <p:spPr>
          <a:xfrm>
            <a:off x="8666480" y="5274871"/>
            <a:ext cx="182304" cy="75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5" name="Connector: Elbow 234">
            <a:extLst>
              <a:ext uri="{FF2B5EF4-FFF2-40B4-BE49-F238E27FC236}">
                <a16:creationId xmlns:a16="http://schemas.microsoft.com/office/drawing/2014/main" id="{AAD58BB1-2D52-451A-A7A3-9C54649F16E1}"/>
              </a:ext>
            </a:extLst>
          </p:cNvPr>
          <p:cNvCxnSpPr/>
          <p:nvPr/>
        </p:nvCxnSpPr>
        <p:spPr>
          <a:xfrm>
            <a:off x="8666480" y="3040737"/>
            <a:ext cx="167639" cy="12639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4"/>
          <p:cNvSpPr txBox="1">
            <a:spLocks noGrp="1"/>
          </p:cNvSpPr>
          <p:nvPr>
            <p:ph type="title"/>
          </p:nvPr>
        </p:nvSpPr>
        <p:spPr>
          <a:xfrm>
            <a:off x="1035253" y="-384047"/>
            <a:ext cx="10058400" cy="160934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sz="3600" b="1" dirty="0">
                <a:latin typeface="Times New Roman"/>
                <a:ea typeface="Times New Roman"/>
                <a:cs typeface="Times New Roman"/>
                <a:sym typeface="Times New Roman"/>
              </a:rPr>
              <a:t>PROBLEM STATEMENT</a:t>
            </a:r>
            <a:endParaRPr sz="3600" b="1" dirty="0">
              <a:latin typeface="Times New Roman"/>
              <a:ea typeface="Times New Roman"/>
              <a:cs typeface="Times New Roman"/>
              <a:sym typeface="Times New Roman"/>
            </a:endParaRPr>
          </a:p>
        </p:txBody>
      </p:sp>
      <p:sp>
        <p:nvSpPr>
          <p:cNvPr id="217" name="Google Shape;217;p14"/>
          <p:cNvSpPr txBox="1">
            <a:spLocks noGrp="1"/>
          </p:cNvSpPr>
          <p:nvPr>
            <p:ph idx="1"/>
          </p:nvPr>
        </p:nvSpPr>
        <p:spPr>
          <a:xfrm>
            <a:off x="1035253" y="1348252"/>
            <a:ext cx="10275875" cy="4343399"/>
          </a:xfrm>
          <a:prstGeom prst="rect">
            <a:avLst/>
          </a:prstGeom>
          <a:noFill/>
          <a:ln>
            <a:noFill/>
          </a:ln>
        </p:spPr>
        <p:txBody>
          <a:bodyPr spcFirstLastPara="1" wrap="square" lIns="0" tIns="45700" rIns="0" bIns="45700" anchor="t" anchorCtr="0">
            <a:noAutofit/>
          </a:bodyPr>
          <a:lstStyle/>
          <a:p>
            <a:pPr marL="90488" lvl="0" indent="0" algn="just" rtl="0">
              <a:spcBef>
                <a:spcPts val="1400"/>
              </a:spcBef>
              <a:spcAft>
                <a:spcPts val="0"/>
              </a:spcAft>
              <a:buClr>
                <a:srgbClr val="404040"/>
              </a:buClr>
              <a:buSzPts val="2000"/>
              <a:buFont typeface="Noto Sans Symbols"/>
              <a:buNone/>
            </a:pPr>
            <a:r>
              <a:rPr lang="en-US" sz="1800" dirty="0">
                <a:latin typeface="Times New Roman" panose="02020603050405020304" pitchFamily="18" charset="0"/>
                <a:cs typeface="Times New Roman" panose="02020603050405020304" pitchFamily="18" charset="0"/>
              </a:rPr>
              <a:t>The performance of emotion detection systems significantly declines in low-light conditions due to poor image quality, including noise, low contrast, and loss of facial details critical for accurate recognition. Existing image enhancement techniques are not specifically optimized for emotion detection, leading to inadequate results when applied to low-light images. This research aims to develop a smart low-light image enhancement framework tailored for emotion detection, enhancing image visibility and preserving essential facial features to ensure high accuracy and reliability across varying lighting conditions. The goal is to bridge the gap between low-light image quality and the requirements of robust emotion recognition systems.</a:t>
            </a:r>
            <a:endParaRPr dirty="0">
              <a:latin typeface="Times New Roman" panose="02020603050405020304" pitchFamily="18" charset="0"/>
              <a:ea typeface="Times New Roman"/>
              <a:cs typeface="Times New Roman" panose="02020603050405020304" pitchFamily="18" charset="0"/>
              <a:sym typeface="Times New Roman"/>
            </a:endParaRPr>
          </a:p>
          <a:p>
            <a:pPr marL="90488" lvl="0" indent="0" algn="just" rtl="0">
              <a:spcBef>
                <a:spcPts val="1400"/>
              </a:spcBef>
              <a:spcAft>
                <a:spcPts val="0"/>
              </a:spcAft>
              <a:buClr>
                <a:srgbClr val="404040"/>
              </a:buClr>
              <a:buSzPts val="2000"/>
              <a:buFont typeface="Noto Sans Symbols"/>
              <a:buNone/>
            </a:pPr>
            <a:endParaRPr sz="1800" dirty="0">
              <a:latin typeface="Times New Roman"/>
              <a:ea typeface="Times New Roman"/>
              <a:cs typeface="Times New Roman"/>
              <a:sym typeface="Times New Roman"/>
            </a:endParaRPr>
          </a:p>
        </p:txBody>
      </p:sp>
      <p:sp>
        <p:nvSpPr>
          <p:cNvPr id="218" name="Google Shape;218;p1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302C9-3617-8115-BA62-7BDB9B567878}"/>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Software used</a:t>
            </a:r>
          </a:p>
        </p:txBody>
      </p:sp>
      <p:sp>
        <p:nvSpPr>
          <p:cNvPr id="3" name="Content Placeholder 2">
            <a:extLst>
              <a:ext uri="{FF2B5EF4-FFF2-40B4-BE49-F238E27FC236}">
                <a16:creationId xmlns:a16="http://schemas.microsoft.com/office/drawing/2014/main" id="{E9D30705-10AD-2AE5-92BE-A3C3C556AE80}"/>
              </a:ext>
            </a:extLst>
          </p:cNvPr>
          <p:cNvSpPr>
            <a:spLocks noGrp="1"/>
          </p:cNvSpPr>
          <p:nvPr>
            <p:ph idx="1"/>
          </p:nvPr>
        </p:nvSpPr>
        <p:spPr>
          <a:xfrm>
            <a:off x="1063751" y="1659770"/>
            <a:ext cx="10058400" cy="4050792"/>
          </a:xfrm>
        </p:spPr>
        <p:txBody>
          <a:bodyPr/>
          <a:lstStyle/>
          <a:p>
            <a:r>
              <a:rPr lang="en-US" sz="1800" dirty="0">
                <a:latin typeface="Times New Roman" panose="02020603050405020304" pitchFamily="18" charset="0"/>
                <a:cs typeface="Times New Roman" panose="02020603050405020304" pitchFamily="18" charset="0"/>
              </a:rPr>
              <a:t>Primary Software for Emotion Detection: </a:t>
            </a:r>
            <a:r>
              <a:rPr lang="en-US" sz="1800" dirty="0" err="1">
                <a:latin typeface="Times New Roman" panose="02020603050405020304" pitchFamily="18" charset="0"/>
                <a:cs typeface="Times New Roman" panose="02020603050405020304" pitchFamily="18" charset="0"/>
              </a:rPr>
              <a:t>DeepFace</a:t>
            </a:r>
            <a:r>
              <a:rPr lang="en-US" sz="1800" dirty="0">
                <a:latin typeface="Times New Roman" panose="02020603050405020304" pitchFamily="18" charset="0"/>
                <a:cs typeface="Times New Roman" panose="02020603050405020304" pitchFamily="18" charset="0"/>
              </a:rPr>
              <a:t> is the key software library in your code for performing emotion analysis.</a:t>
            </a:r>
          </a:p>
          <a:p>
            <a:r>
              <a:rPr lang="en-US" sz="1800" dirty="0">
                <a:latin typeface="Times New Roman" panose="02020603050405020304" pitchFamily="18" charset="0"/>
                <a:cs typeface="Times New Roman" panose="02020603050405020304" pitchFamily="18" charset="0"/>
              </a:rPr>
              <a:t>Supporting Libraries: cv2, </a:t>
            </a:r>
            <a:r>
              <a:rPr lang="en-US" sz="1800" dirty="0" err="1">
                <a:latin typeface="Times New Roman" panose="02020603050405020304" pitchFamily="18" charset="0"/>
                <a:cs typeface="Times New Roman" panose="02020603050405020304" pitchFamily="18" charset="0"/>
              </a:rPr>
              <a:t>mediapipe</a:t>
            </a:r>
            <a:r>
              <a:rPr lang="en-US" sz="1800" dirty="0">
                <a:latin typeface="Times New Roman" panose="02020603050405020304" pitchFamily="18" charset="0"/>
                <a:cs typeface="Times New Roman" panose="02020603050405020304" pitchFamily="18" charset="0"/>
              </a:rPr>
              <a:t>, and numpy are included for potential use in image handling and processing but aren't directly utilized in the shown code.</a:t>
            </a:r>
          </a:p>
          <a:p>
            <a:r>
              <a:rPr lang="en-US" sz="1800" dirty="0">
                <a:latin typeface="Times New Roman" panose="02020603050405020304" pitchFamily="18" charset="0"/>
                <a:cs typeface="Times New Roman" panose="02020603050405020304" pitchFamily="18" charset="0"/>
              </a:rPr>
              <a:t>VLS CODE</a:t>
            </a:r>
          </a:p>
          <a:p>
            <a:endParaRPr lang="en-US" dirty="0">
              <a:latin typeface="Times New Roman" panose="02020603050405020304" pitchFamily="18" charset="0"/>
              <a:cs typeface="Times New Roman" panose="02020603050405020304" pitchFamily="18" charset="0"/>
            </a:endParaRPr>
          </a:p>
          <a:p>
            <a:pPr marL="0" indent="0">
              <a:buNone/>
            </a:pPr>
            <a:r>
              <a:rPr lang="en-US" sz="3600" b="1" dirty="0">
                <a:latin typeface="Times New Roman" panose="02020603050405020304" pitchFamily="18" charset="0"/>
                <a:cs typeface="Times New Roman" panose="02020603050405020304" pitchFamily="18" charset="0"/>
              </a:rPr>
              <a:t>ALGORITHMS:</a:t>
            </a:r>
          </a:p>
          <a:p>
            <a:r>
              <a:rPr lang="en-US" sz="1800" dirty="0">
                <a:latin typeface="Times New Roman" panose="02020603050405020304" pitchFamily="18" charset="0"/>
                <a:cs typeface="Times New Roman" panose="02020603050405020304" pitchFamily="18" charset="0"/>
              </a:rPr>
              <a:t>Face Detection: MTCNNE motion </a:t>
            </a:r>
          </a:p>
          <a:p>
            <a:r>
              <a:rPr lang="en-US" sz="1800" dirty="0">
                <a:latin typeface="Times New Roman" panose="02020603050405020304" pitchFamily="18" charset="0"/>
                <a:cs typeface="Times New Roman" panose="02020603050405020304" pitchFamily="18" charset="0"/>
              </a:rPr>
              <a:t>Recognition Model: FER (CNN-based model)</a:t>
            </a:r>
          </a:p>
          <a:p>
            <a:r>
              <a:rPr lang="en-US" sz="1800" dirty="0">
                <a:latin typeface="Times New Roman" panose="02020603050405020304" pitchFamily="18" charset="0"/>
                <a:cs typeface="Times New Roman" panose="02020603050405020304" pitchFamily="18" charset="0"/>
              </a:rPr>
              <a:t>Classification Method: </a:t>
            </a:r>
            <a:r>
              <a:rPr lang="en-US" sz="1800" dirty="0" err="1">
                <a:latin typeface="Times New Roman" panose="02020603050405020304" pitchFamily="18" charset="0"/>
                <a:cs typeface="Times New Roman" panose="02020603050405020304" pitchFamily="18" charset="0"/>
              </a:rPr>
              <a:t>Softmax</a:t>
            </a:r>
            <a:r>
              <a:rPr lang="en-US" sz="1800" dirty="0">
                <a:latin typeface="Times New Roman" panose="02020603050405020304" pitchFamily="18" charset="0"/>
                <a:cs typeface="Times New Roman" panose="02020603050405020304" pitchFamily="18" charset="0"/>
              </a:rPr>
              <a:t> classifier to determine the emotion label.</a:t>
            </a:r>
          </a:p>
        </p:txBody>
      </p:sp>
    </p:spTree>
    <p:extLst>
      <p:ext uri="{BB962C8B-B14F-4D97-AF65-F5344CB8AC3E}">
        <p14:creationId xmlns:p14="http://schemas.microsoft.com/office/powerpoint/2010/main" val="3580535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619E7-526B-B45D-765B-CAA7192D1ED4}"/>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Applications</a:t>
            </a:r>
          </a:p>
        </p:txBody>
      </p:sp>
      <p:sp>
        <p:nvSpPr>
          <p:cNvPr id="3" name="Content Placeholder 2">
            <a:extLst>
              <a:ext uri="{FF2B5EF4-FFF2-40B4-BE49-F238E27FC236}">
                <a16:creationId xmlns:a16="http://schemas.microsoft.com/office/drawing/2014/main" id="{BDCED68E-3292-F6EA-2882-7EA851FA2E77}"/>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Human-Computer Interaction (HCI)</a:t>
            </a:r>
          </a:p>
          <a:p>
            <a:r>
              <a:rPr lang="en-US" dirty="0">
                <a:latin typeface="Times New Roman" panose="02020603050405020304" pitchFamily="18" charset="0"/>
                <a:cs typeface="Times New Roman" panose="02020603050405020304" pitchFamily="18" charset="0"/>
              </a:rPr>
              <a:t> Enhancing user experiences based on emotional feedback.- </a:t>
            </a:r>
          </a:p>
          <a:p>
            <a:r>
              <a:rPr lang="en-US" dirty="0">
                <a:latin typeface="Times New Roman" panose="02020603050405020304" pitchFamily="18" charset="0"/>
                <a:cs typeface="Times New Roman" panose="02020603050405020304" pitchFamily="18" charset="0"/>
              </a:rPr>
              <a:t>Customer Service</a:t>
            </a:r>
          </a:p>
          <a:p>
            <a:r>
              <a:rPr lang="en-US" dirty="0">
                <a:latin typeface="Times New Roman" panose="02020603050405020304" pitchFamily="18" charset="0"/>
                <a:cs typeface="Times New Roman" panose="02020603050405020304" pitchFamily="18" charset="0"/>
              </a:rPr>
              <a:t>Analyzing customer satisfaction and reactions in real-time</a:t>
            </a:r>
          </a:p>
          <a:p>
            <a:r>
              <a:rPr lang="en-US" dirty="0">
                <a:latin typeface="Times New Roman" panose="02020603050405020304" pitchFamily="18" charset="0"/>
                <a:cs typeface="Times New Roman" panose="02020603050405020304" pitchFamily="18" charset="0"/>
              </a:rPr>
              <a:t>Mental Health Monitoring</a:t>
            </a:r>
          </a:p>
          <a:p>
            <a:r>
              <a:rPr lang="en-US" dirty="0">
                <a:latin typeface="Times New Roman" panose="02020603050405020304" pitchFamily="18" charset="0"/>
                <a:cs typeface="Times New Roman" panose="02020603050405020304" pitchFamily="18" charset="0"/>
              </a:rPr>
              <a:t>Detecting signs of distress or negative emotions.</a:t>
            </a:r>
          </a:p>
          <a:p>
            <a:endParaRPr lang="en-US" dirty="0"/>
          </a:p>
        </p:txBody>
      </p:sp>
    </p:spTree>
    <p:extLst>
      <p:ext uri="{BB962C8B-B14F-4D97-AF65-F5344CB8AC3E}">
        <p14:creationId xmlns:p14="http://schemas.microsoft.com/office/powerpoint/2010/main" val="775503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5"/>
          <p:cNvSpPr txBox="1">
            <a:spLocks noGrp="1"/>
          </p:cNvSpPr>
          <p:nvPr>
            <p:ph type="title"/>
          </p:nvPr>
        </p:nvSpPr>
        <p:spPr>
          <a:xfrm>
            <a:off x="1088136" y="-419513"/>
            <a:ext cx="10058400" cy="160934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sz="3600" b="1" dirty="0">
                <a:latin typeface="Times New Roman"/>
                <a:cs typeface="Times New Roman"/>
                <a:sym typeface="Times New Roman"/>
              </a:rPr>
              <a:t>METHODOLOGY</a:t>
            </a:r>
            <a:endParaRPr sz="3600" dirty="0"/>
          </a:p>
        </p:txBody>
      </p:sp>
      <p:sp>
        <p:nvSpPr>
          <p:cNvPr id="224" name="Google Shape;224;p15"/>
          <p:cNvSpPr txBox="1">
            <a:spLocks noGrp="1"/>
          </p:cNvSpPr>
          <p:nvPr>
            <p:ph idx="1"/>
          </p:nvPr>
        </p:nvSpPr>
        <p:spPr>
          <a:xfrm>
            <a:off x="1088136" y="1321454"/>
            <a:ext cx="10058400" cy="3760788"/>
          </a:xfrm>
          <a:prstGeom prst="rect">
            <a:avLst/>
          </a:prstGeom>
          <a:noFill/>
          <a:ln>
            <a:noFill/>
          </a:ln>
        </p:spPr>
        <p:txBody>
          <a:bodyPr spcFirstLastPara="1" wrap="square" lIns="0" tIns="45700" rIns="0" bIns="45700" anchor="t" anchorCtr="0">
            <a:noAutofit/>
          </a:bodyPr>
          <a:lstStyle/>
          <a:p>
            <a:pPr marL="90488" lvl="0" indent="0" algn="just" rtl="0">
              <a:spcBef>
                <a:spcPts val="1400"/>
              </a:spcBef>
              <a:spcAft>
                <a:spcPts val="0"/>
              </a:spcAft>
              <a:buClr>
                <a:srgbClr val="404040"/>
              </a:buClr>
              <a:buSzPts val="2000"/>
              <a:buFont typeface="Noto Sans Symbols"/>
              <a:buNone/>
            </a:pPr>
            <a:r>
              <a:rPr lang="en-US" sz="1800" dirty="0">
                <a:latin typeface="Times New Roman"/>
                <a:ea typeface="Times New Roman"/>
                <a:cs typeface="Times New Roman"/>
                <a:sym typeface="Times New Roman"/>
              </a:rPr>
              <a:t>Developing a facial expression intelligence system for emotion detection involves data collection, facial landmark detection, feature extraction, emotion classification, real-time processing, and user interface development. It also emphasizes privacy and security considerations, and continuous evaluation for system improvement. By following this structured approach, the system aims to provide accurate, real-time emotion detection and enhance user interactions across various applications.</a:t>
            </a:r>
            <a:endParaRPr sz="1800" dirty="0">
              <a:latin typeface="Times New Roman"/>
              <a:ea typeface="Times New Roman"/>
              <a:cs typeface="Times New Roman"/>
              <a:sym typeface="Times New Roman"/>
            </a:endParaRPr>
          </a:p>
          <a:p>
            <a:pPr marL="90488" lvl="0" indent="0" algn="just" rtl="0">
              <a:spcBef>
                <a:spcPts val="1400"/>
              </a:spcBef>
              <a:spcAft>
                <a:spcPts val="0"/>
              </a:spcAft>
              <a:buClr>
                <a:srgbClr val="404040"/>
              </a:buClr>
              <a:buSzPts val="2000"/>
              <a:buFont typeface="Noto Sans Symbols"/>
              <a:buNone/>
            </a:pPr>
            <a:endParaRPr sz="1800" dirty="0">
              <a:solidFill>
                <a:schemeClr val="dk1"/>
              </a:solidFill>
              <a:latin typeface="Times New Roman"/>
              <a:ea typeface="Times New Roman"/>
              <a:cs typeface="Times New Roman"/>
              <a:sym typeface="Times New Roman"/>
            </a:endParaRPr>
          </a:p>
        </p:txBody>
      </p:sp>
      <p:sp>
        <p:nvSpPr>
          <p:cNvPr id="225" name="Google Shape;225;p1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862B703-8886-EA89-94B3-0A1B44240E9B}"/>
              </a:ext>
            </a:extLst>
          </p:cNvPr>
          <p:cNvPicPr>
            <a:picLocks noChangeAspect="1"/>
          </p:cNvPicPr>
          <p:nvPr/>
        </p:nvPicPr>
        <p:blipFill>
          <a:blip r:embed="rId2"/>
          <a:stretch>
            <a:fillRect/>
          </a:stretch>
        </p:blipFill>
        <p:spPr>
          <a:xfrm>
            <a:off x="23812" y="744279"/>
            <a:ext cx="12144375" cy="6113722"/>
          </a:xfrm>
          <a:prstGeom prst="rect">
            <a:avLst/>
          </a:prstGeom>
        </p:spPr>
      </p:pic>
    </p:spTree>
    <p:extLst>
      <p:ext uri="{BB962C8B-B14F-4D97-AF65-F5344CB8AC3E}">
        <p14:creationId xmlns:p14="http://schemas.microsoft.com/office/powerpoint/2010/main" val="1631931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B88B3-BCBD-4EBA-B0CF-DBE71DF1893C}"/>
              </a:ext>
            </a:extLst>
          </p:cNvPr>
          <p:cNvSpPr>
            <a:spLocks noGrp="1"/>
          </p:cNvSpPr>
          <p:nvPr>
            <p:ph type="title"/>
          </p:nvPr>
        </p:nvSpPr>
        <p:spPr>
          <a:xfrm>
            <a:off x="1069848" y="484632"/>
            <a:ext cx="10058400" cy="1308657"/>
          </a:xfrm>
        </p:spPr>
        <p:txBody>
          <a:bodyPr>
            <a:normAutofit/>
          </a:bodyPr>
          <a:lstStyle/>
          <a:p>
            <a:r>
              <a:rPr lang="en-US" sz="3600" dirty="0">
                <a:latin typeface="Times New Roman" panose="02020603050405020304" pitchFamily="18" charset="0"/>
                <a:cs typeface="Times New Roman" panose="02020603050405020304" pitchFamily="18" charset="0"/>
              </a:rPr>
              <a:t>FACIAL EXPRESSIONS</a:t>
            </a:r>
            <a:endParaRPr lang="en-IN"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717E3E41-93C9-4CA4-A3F9-C17D8E881F88}"/>
              </a:ext>
            </a:extLst>
          </p:cNvPr>
          <p:cNvPicPr>
            <a:picLocks noGrp="1" noChangeAspect="1"/>
          </p:cNvPicPr>
          <p:nvPr>
            <p:ph idx="1"/>
          </p:nvPr>
        </p:nvPicPr>
        <p:blipFill>
          <a:blip r:embed="rId2"/>
          <a:stretch>
            <a:fillRect/>
          </a:stretch>
        </p:blipFill>
        <p:spPr>
          <a:xfrm>
            <a:off x="1063752" y="1501492"/>
            <a:ext cx="7654120" cy="5201149"/>
          </a:xfrm>
        </p:spPr>
      </p:pic>
    </p:spTree>
    <p:extLst>
      <p:ext uri="{BB962C8B-B14F-4D97-AF65-F5344CB8AC3E}">
        <p14:creationId xmlns:p14="http://schemas.microsoft.com/office/powerpoint/2010/main" val="2681966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5"/>
          <p:cNvSpPr txBox="1">
            <a:spLocks noGrp="1"/>
          </p:cNvSpPr>
          <p:nvPr>
            <p:ph type="title"/>
          </p:nvPr>
        </p:nvSpPr>
        <p:spPr>
          <a:xfrm>
            <a:off x="1063752" y="-393576"/>
            <a:ext cx="10058400" cy="160934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sz="3600" b="1" dirty="0">
                <a:latin typeface="Times New Roman"/>
                <a:cs typeface="Times New Roman"/>
                <a:sym typeface="Times New Roman"/>
              </a:rPr>
              <a:t>CONCLUSION</a:t>
            </a:r>
            <a:endParaRPr sz="3600" b="1" dirty="0"/>
          </a:p>
        </p:txBody>
      </p:sp>
      <p:sp>
        <p:nvSpPr>
          <p:cNvPr id="308" name="Google Shape;308;p25"/>
          <p:cNvSpPr txBox="1">
            <a:spLocks noGrp="1"/>
          </p:cNvSpPr>
          <p:nvPr>
            <p:ph idx="1"/>
          </p:nvPr>
        </p:nvSpPr>
        <p:spPr>
          <a:xfrm>
            <a:off x="1203495" y="1248349"/>
            <a:ext cx="10058400" cy="3760788"/>
          </a:xfrm>
          <a:prstGeom prst="rect">
            <a:avLst/>
          </a:prstGeom>
          <a:noFill/>
          <a:ln>
            <a:noFill/>
          </a:ln>
        </p:spPr>
        <p:txBody>
          <a:bodyPr spcFirstLastPara="1" wrap="square" lIns="0" tIns="45700" rIns="0" bIns="45700" anchor="t" anchorCtr="0">
            <a:noAutofit/>
          </a:bodyPr>
          <a:lstStyle/>
          <a:p>
            <a:pPr marL="0" indent="0" algn="just">
              <a:spcBef>
                <a:spcPts val="1400"/>
              </a:spcBef>
              <a:buSzPts val="2000"/>
              <a:buNone/>
            </a:pPr>
            <a:r>
              <a:rPr lang="en-US" sz="1800" dirty="0">
                <a:latin typeface="Times New Roman" panose="02020603050405020304" pitchFamily="18" charset="0"/>
                <a:cs typeface="Times New Roman" panose="02020603050405020304" pitchFamily="18" charset="0"/>
              </a:rPr>
              <a:t>This facial expression recognition system that accurately detects emotions like happiness, sadness, and anger. It uses AI and machine learning to analyze facial features and classify emotions. The technology has many potential applications and can be improved further to enhance real-time performance and address individual variations.</a:t>
            </a:r>
          </a:p>
          <a:p>
            <a:pPr marL="0" indent="0" algn="just">
              <a:spcBef>
                <a:spcPts val="1400"/>
              </a:spcBef>
              <a:buSzPts val="2000"/>
              <a:buNone/>
            </a:pPr>
            <a:r>
              <a:rPr lang="en-US" sz="1800" dirty="0">
                <a:latin typeface="Times New Roman" panose="02020603050405020304" pitchFamily="18" charset="0"/>
                <a:cs typeface="Times New Roman" panose="02020603050405020304" pitchFamily="18" charset="0"/>
              </a:rPr>
              <a:t>”Smart Low-Light Image Enhancement for Emotion Detection" is a project that aims to develop an AI-powered system to enhance low-light images and improve emotion detection accuracy. The system uses advanced image processing techniques to enhance facial features and illumination, allowing for more accurate emotion recognition. By improving image quality, the system enables more reliable emotion detection in various applications, including healthcare, security, and human-computer interaction.</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6"/>
          <p:cNvSpPr txBox="1">
            <a:spLocks noGrp="1"/>
          </p:cNvSpPr>
          <p:nvPr>
            <p:ph type="title"/>
          </p:nvPr>
        </p:nvSpPr>
        <p:spPr>
          <a:xfrm>
            <a:off x="907650" y="-517334"/>
            <a:ext cx="10058400" cy="160934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sz="3600" b="1" dirty="0">
                <a:latin typeface="Times New Roman"/>
                <a:ea typeface="Times New Roman"/>
                <a:cs typeface="Times New Roman"/>
                <a:sym typeface="Times New Roman"/>
              </a:rPr>
              <a:t>References</a:t>
            </a:r>
            <a:endParaRPr sz="3600" dirty="0"/>
          </a:p>
        </p:txBody>
      </p:sp>
      <p:sp>
        <p:nvSpPr>
          <p:cNvPr id="314" name="Google Shape;314;p26"/>
          <p:cNvSpPr txBox="1">
            <a:spLocks noGrp="1"/>
          </p:cNvSpPr>
          <p:nvPr>
            <p:ph idx="1"/>
          </p:nvPr>
        </p:nvSpPr>
        <p:spPr>
          <a:xfrm>
            <a:off x="907650" y="1239220"/>
            <a:ext cx="10972800" cy="4665617"/>
          </a:xfrm>
          <a:prstGeom prst="rect">
            <a:avLst/>
          </a:prstGeom>
          <a:noFill/>
          <a:ln>
            <a:noFill/>
          </a:ln>
        </p:spPr>
        <p:txBody>
          <a:bodyPr spcFirstLastPara="1" wrap="square" lIns="0" tIns="45700" rIns="0" bIns="45700" anchor="t" anchorCtr="0">
            <a:noAutofit/>
          </a:bodyPr>
          <a:lstStyle/>
          <a:p>
            <a:pPr marL="0" lvl="0" indent="0" algn="just" rtl="0">
              <a:spcBef>
                <a:spcPts val="1400"/>
              </a:spcBef>
              <a:spcAft>
                <a:spcPts val="0"/>
              </a:spcAft>
              <a:buSzPts val="1600"/>
              <a:buNone/>
            </a:pPr>
            <a:r>
              <a:rPr lang="en-IN" sz="1800" dirty="0">
                <a:latin typeface="Times New Roman" panose="02020603050405020304" pitchFamily="18" charset="0"/>
                <a:cs typeface="Times New Roman" panose="02020603050405020304" pitchFamily="18" charset="0"/>
              </a:rPr>
              <a:t>[1] G. </a:t>
            </a:r>
            <a:r>
              <a:rPr lang="en-IN" sz="1800" dirty="0" err="1">
                <a:latin typeface="Times New Roman" panose="02020603050405020304" pitchFamily="18" charset="0"/>
                <a:cs typeface="Times New Roman" panose="02020603050405020304" pitchFamily="18" charset="0"/>
              </a:rPr>
              <a:t>Giannakakis</a:t>
            </a:r>
            <a:r>
              <a:rPr lang="en-IN" sz="1800" dirty="0">
                <a:latin typeface="Times New Roman" panose="02020603050405020304" pitchFamily="18" charset="0"/>
                <a:cs typeface="Times New Roman" panose="02020603050405020304" pitchFamily="18" charset="0"/>
              </a:rPr>
              <a:t>, D. </a:t>
            </a:r>
            <a:r>
              <a:rPr lang="en-IN" sz="1800" dirty="0" err="1">
                <a:latin typeface="Times New Roman" panose="02020603050405020304" pitchFamily="18" charset="0"/>
                <a:cs typeface="Times New Roman" panose="02020603050405020304" pitchFamily="18" charset="0"/>
              </a:rPr>
              <a:t>Manousos</a:t>
            </a:r>
            <a:r>
              <a:rPr lang="en-IN" sz="1800" dirty="0">
                <a:latin typeface="Times New Roman" panose="02020603050405020304" pitchFamily="18" charset="0"/>
                <a:cs typeface="Times New Roman" panose="02020603050405020304" pitchFamily="18" charset="0"/>
              </a:rPr>
              <a:t>, F. </a:t>
            </a:r>
            <a:r>
              <a:rPr lang="en-IN" sz="1800" dirty="0" err="1">
                <a:latin typeface="Times New Roman" panose="02020603050405020304" pitchFamily="18" charset="0"/>
                <a:cs typeface="Times New Roman" panose="02020603050405020304" pitchFamily="18" charset="0"/>
              </a:rPr>
              <a:t>Chiarugi</a:t>
            </a:r>
            <a:r>
              <a:rPr lang="en-IN" sz="1800" dirty="0">
                <a:latin typeface="Times New Roman" panose="02020603050405020304" pitchFamily="18" charset="0"/>
                <a:cs typeface="Times New Roman" panose="02020603050405020304" pitchFamily="18" charset="0"/>
              </a:rPr>
              <a:t>, “Stress and anxiety detection using facial cues from videos,” Biomedical Signal processing and Control”, vol. 31, pp. 89- 101, January 2017.  </a:t>
            </a:r>
          </a:p>
          <a:p>
            <a:pPr marL="0" lvl="0" indent="0" algn="just" rtl="0">
              <a:spcBef>
                <a:spcPts val="1400"/>
              </a:spcBef>
              <a:spcAft>
                <a:spcPts val="0"/>
              </a:spcAft>
              <a:buSzPts val="1600"/>
              <a:buNone/>
            </a:pPr>
            <a:r>
              <a:rPr lang="en-IN" sz="1800" dirty="0">
                <a:latin typeface="Times New Roman" panose="02020603050405020304" pitchFamily="18" charset="0"/>
                <a:cs typeface="Times New Roman" panose="02020603050405020304" pitchFamily="18" charset="0"/>
              </a:rPr>
              <a:t>[2] Nisha Raichur, Nidhi </a:t>
            </a:r>
            <a:r>
              <a:rPr lang="en-IN" sz="1800" dirty="0" err="1">
                <a:latin typeface="Times New Roman" panose="02020603050405020304" pitchFamily="18" charset="0"/>
                <a:cs typeface="Times New Roman" panose="02020603050405020304" pitchFamily="18" charset="0"/>
              </a:rPr>
              <a:t>Lonakadi</a:t>
            </a:r>
            <a:r>
              <a:rPr lang="en-IN" sz="1800" dirty="0">
                <a:latin typeface="Times New Roman" panose="02020603050405020304" pitchFamily="18" charset="0"/>
                <a:cs typeface="Times New Roman" panose="02020603050405020304" pitchFamily="18" charset="0"/>
              </a:rPr>
              <a:t>, Priyanka Mural, “Detection of Stress Using Image Processing and Machine Learning Techniques”, vol.9, no. 3S, July 2017.  </a:t>
            </a:r>
          </a:p>
          <a:p>
            <a:pPr marL="0" lvl="0" indent="0" algn="just" rtl="0">
              <a:spcBef>
                <a:spcPts val="1400"/>
              </a:spcBef>
              <a:spcAft>
                <a:spcPts val="0"/>
              </a:spcAft>
              <a:buSzPts val="1600"/>
              <a:buNone/>
            </a:pPr>
            <a:r>
              <a:rPr lang="en-IN" sz="1800" dirty="0">
                <a:latin typeface="Times New Roman" panose="02020603050405020304" pitchFamily="18" charset="0"/>
                <a:cs typeface="Times New Roman" panose="02020603050405020304" pitchFamily="18" charset="0"/>
              </a:rPr>
              <a:t>[3] U. S. Reddy, A. V. Thota and A. </a:t>
            </a:r>
            <a:r>
              <a:rPr lang="en-IN" sz="1800" dirty="0" err="1">
                <a:latin typeface="Times New Roman" panose="02020603050405020304" pitchFamily="18" charset="0"/>
                <a:cs typeface="Times New Roman" panose="02020603050405020304" pitchFamily="18" charset="0"/>
              </a:rPr>
              <a:t>Dharun</a:t>
            </a:r>
            <a:r>
              <a:rPr lang="en-IN" sz="1800" dirty="0">
                <a:latin typeface="Times New Roman" panose="02020603050405020304" pitchFamily="18" charset="0"/>
                <a:cs typeface="Times New Roman" panose="02020603050405020304" pitchFamily="18" charset="0"/>
              </a:rPr>
              <a:t>, "Machine Learning Techniques for Stress Prediction in Working Employees," 2018 IEEE International Conference on Computational Intelligence and Computing Research (ICCIC), Madurai, India, 2018, pp. 1-4. </a:t>
            </a:r>
          </a:p>
          <a:p>
            <a:pPr marL="0" lvl="0" indent="0" algn="just" rtl="0">
              <a:spcBef>
                <a:spcPts val="1400"/>
              </a:spcBef>
              <a:spcAft>
                <a:spcPts val="0"/>
              </a:spcAft>
              <a:buSzPts val="1600"/>
              <a:buNone/>
            </a:pPr>
            <a:r>
              <a:rPr lang="en-US" sz="1800" dirty="0">
                <a:latin typeface="Times New Roman" panose="02020603050405020304" pitchFamily="18" charset="0"/>
                <a:cs typeface="Times New Roman" panose="02020603050405020304" pitchFamily="18" charset="0"/>
              </a:rPr>
              <a:t>[4] T. </a:t>
            </a:r>
            <a:r>
              <a:rPr lang="en-US" sz="1800" dirty="0" err="1">
                <a:latin typeface="Times New Roman" panose="02020603050405020304" pitchFamily="18" charset="0"/>
                <a:cs typeface="Times New Roman" panose="02020603050405020304" pitchFamily="18" charset="0"/>
              </a:rPr>
              <a:t>Jick</a:t>
            </a:r>
            <a:r>
              <a:rPr lang="en-US" sz="1800" dirty="0">
                <a:latin typeface="Times New Roman" panose="02020603050405020304" pitchFamily="18" charset="0"/>
                <a:cs typeface="Times New Roman" panose="02020603050405020304" pitchFamily="18" charset="0"/>
              </a:rPr>
              <a:t> and R. Payne, “Stress at work,” Journal of Management Education, vol. 5, no. 3, pp. 50-56, 1980. </a:t>
            </a:r>
          </a:p>
          <a:p>
            <a:pPr marL="0" lvl="0" indent="0" algn="just" rtl="0">
              <a:spcBef>
                <a:spcPts val="1400"/>
              </a:spcBef>
              <a:spcAft>
                <a:spcPts val="0"/>
              </a:spcAft>
              <a:buSzPts val="1600"/>
              <a:buNone/>
            </a:pPr>
            <a:endParaRPr lang="en-US" sz="3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SzPts val="1600"/>
              <a:buNone/>
            </a:pPr>
            <a:r>
              <a:rPr lang="en-US" sz="1400" dirty="0">
                <a:latin typeface="Times New Roman"/>
                <a:ea typeface="Times New Roman"/>
                <a:cs typeface="Times New Roman"/>
                <a:sym typeface="Times New Roman"/>
              </a:rPr>
              <a:t>[</a:t>
            </a:r>
            <a:r>
              <a:rPr lang="en-US" sz="1800" dirty="0">
                <a:latin typeface="Times New Roman"/>
                <a:ea typeface="Times New Roman"/>
                <a:cs typeface="Times New Roman"/>
                <a:sym typeface="Times New Roman"/>
              </a:rPr>
              <a:t>5] Bhattacharyya, R., &amp; </a:t>
            </a:r>
            <a:r>
              <a:rPr lang="en-US" sz="1800" dirty="0" err="1">
                <a:latin typeface="Times New Roman"/>
                <a:ea typeface="Times New Roman"/>
                <a:cs typeface="Times New Roman"/>
                <a:sym typeface="Times New Roman"/>
              </a:rPr>
              <a:t>Basu</a:t>
            </a:r>
            <a:r>
              <a:rPr lang="en-US" sz="1800" dirty="0">
                <a:latin typeface="Times New Roman"/>
                <a:ea typeface="Times New Roman"/>
                <a:cs typeface="Times New Roman"/>
                <a:sym typeface="Times New Roman"/>
              </a:rPr>
              <a:t>, S. (2018). Retrieved from ‘The Economic Times’. </a:t>
            </a:r>
          </a:p>
          <a:p>
            <a:pPr marL="0" lvl="0" indent="0" algn="just" rtl="0">
              <a:spcBef>
                <a:spcPts val="0"/>
              </a:spcBef>
              <a:spcAft>
                <a:spcPts val="0"/>
              </a:spcAft>
              <a:buSzPts val="1600"/>
              <a:buNone/>
            </a:pPr>
            <a:endParaRPr lang="en-US" sz="1800" dirty="0">
              <a:latin typeface="Times New Roman"/>
              <a:ea typeface="Times New Roman"/>
              <a:cs typeface="Times New Roman"/>
              <a:sym typeface="Times New Roman"/>
            </a:endParaRPr>
          </a:p>
          <a:p>
            <a:pPr marL="0" lvl="0" indent="0" algn="just" rtl="0">
              <a:spcBef>
                <a:spcPts val="0"/>
              </a:spcBef>
              <a:spcAft>
                <a:spcPts val="0"/>
              </a:spcAft>
              <a:buSzPts val="1600"/>
              <a:buNone/>
            </a:pPr>
            <a:r>
              <a:rPr lang="en-US" sz="1800" dirty="0">
                <a:latin typeface="Times New Roman"/>
                <a:ea typeface="Times New Roman"/>
                <a:cs typeface="Times New Roman"/>
                <a:sym typeface="Times New Roman"/>
              </a:rPr>
              <a:t>[6] OSMI Mental Health in Tech Survey Dataset, 2017  </a:t>
            </a:r>
          </a:p>
          <a:p>
            <a:pPr marL="0" lvl="0" indent="0" algn="just" rtl="0">
              <a:spcBef>
                <a:spcPts val="0"/>
              </a:spcBef>
              <a:spcAft>
                <a:spcPts val="0"/>
              </a:spcAft>
              <a:buSzPts val="1600"/>
              <a:buNone/>
            </a:pPr>
            <a:endParaRPr lang="en-US" sz="1800" dirty="0">
              <a:latin typeface="Times New Roman"/>
              <a:ea typeface="Times New Roman"/>
              <a:cs typeface="Times New Roman"/>
              <a:sym typeface="Times New Roman"/>
            </a:endParaRPr>
          </a:p>
          <a:p>
            <a:pPr marL="0" lvl="0" indent="0" algn="just" rtl="0">
              <a:spcBef>
                <a:spcPts val="0"/>
              </a:spcBef>
              <a:spcAft>
                <a:spcPts val="0"/>
              </a:spcAft>
              <a:buSzPts val="1600"/>
              <a:buNone/>
            </a:pPr>
            <a:r>
              <a:rPr lang="en-US" sz="1800" dirty="0">
                <a:latin typeface="Times New Roman"/>
                <a:ea typeface="Times New Roman"/>
                <a:cs typeface="Times New Roman"/>
                <a:sym typeface="Times New Roman"/>
              </a:rPr>
              <a:t>[7] https://www.kaggle.com/qiriro/stress  www.jespublication.com Page 1002Journal of Engineering Sciences Vol 13 Issue 07,2022, ISSN:0377-9254 </a:t>
            </a:r>
          </a:p>
          <a:p>
            <a:pPr marL="0" lvl="0" indent="0" algn="just" rtl="0">
              <a:spcBef>
                <a:spcPts val="1400"/>
              </a:spcBef>
              <a:spcAft>
                <a:spcPts val="0"/>
              </a:spcAft>
              <a:buSzPts val="1600"/>
              <a:buNone/>
            </a:pPr>
            <a:endParaRPr sz="1800" dirty="0">
              <a:latin typeface="Times New Roman" panose="02020603050405020304" pitchFamily="18" charset="0"/>
              <a:cs typeface="Times New Roman" panose="02020603050405020304" pitchFamily="18" charset="0"/>
            </a:endParaRPr>
          </a:p>
          <a:p>
            <a:pPr marL="0" lvl="0" indent="0" algn="just" rtl="0">
              <a:spcBef>
                <a:spcPts val="1400"/>
              </a:spcBef>
              <a:spcAft>
                <a:spcPts val="0"/>
              </a:spcAft>
              <a:buSzPts val="1600"/>
              <a:buNone/>
            </a:pPr>
            <a:endParaRPr sz="1800" dirty="0">
              <a:latin typeface="Times New Roman" panose="02020603050405020304" pitchFamily="18" charset="0"/>
              <a:cs typeface="Times New Roman" panose="02020603050405020304" pitchFamily="18" charset="0"/>
            </a:endParaRPr>
          </a:p>
          <a:p>
            <a:pPr marL="0" lvl="0" indent="0" algn="just" rtl="0">
              <a:spcBef>
                <a:spcPts val="1400"/>
              </a:spcBef>
              <a:spcAft>
                <a:spcPts val="0"/>
              </a:spcAft>
              <a:buSzPts val="1600"/>
              <a:buNone/>
            </a:pPr>
            <a:endParaRPr sz="1800" dirty="0">
              <a:latin typeface="Times New Roman" panose="02020603050405020304" pitchFamily="18" charset="0"/>
              <a:cs typeface="Times New Roman" panose="02020603050405020304" pitchFamily="18" charset="0"/>
            </a:endParaRPr>
          </a:p>
          <a:p>
            <a:pPr marL="0" lvl="0" indent="0" algn="just" rtl="0">
              <a:spcBef>
                <a:spcPts val="1400"/>
              </a:spcBef>
              <a:spcAft>
                <a:spcPts val="0"/>
              </a:spcAft>
              <a:buSzPts val="1600"/>
              <a:buNone/>
            </a:pP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7"/>
          <p:cNvSpPr txBox="1">
            <a:spLocks noGrp="1"/>
          </p:cNvSpPr>
          <p:nvPr>
            <p:ph idx="1"/>
          </p:nvPr>
        </p:nvSpPr>
        <p:spPr>
          <a:xfrm>
            <a:off x="750734" y="662422"/>
            <a:ext cx="10972800" cy="4308566"/>
          </a:xfrm>
          <a:prstGeom prst="rect">
            <a:avLst/>
          </a:prstGeom>
          <a:noFill/>
          <a:ln>
            <a:noFill/>
          </a:ln>
        </p:spPr>
        <p:txBody>
          <a:bodyPr spcFirstLastPara="1" wrap="square" lIns="0" tIns="45700" rIns="0" bIns="45700" anchor="t" anchorCtr="0">
            <a:noAutofit/>
          </a:bodyPr>
          <a:lstStyle/>
          <a:p>
            <a:pPr marL="0" lvl="0" indent="0" algn="just" rtl="0">
              <a:spcBef>
                <a:spcPts val="0"/>
              </a:spcBef>
              <a:spcAft>
                <a:spcPts val="0"/>
              </a:spcAft>
              <a:buSzPts val="1600"/>
              <a:buNone/>
            </a:pPr>
            <a:endParaRPr lang="en-US" sz="1800" dirty="0">
              <a:latin typeface="Times New Roman"/>
              <a:ea typeface="Times New Roman"/>
              <a:cs typeface="Times New Roman"/>
              <a:sym typeface="Times New Roman"/>
            </a:endParaRPr>
          </a:p>
          <a:p>
            <a:pPr marL="0" lvl="0" indent="0" algn="just" rtl="0">
              <a:spcBef>
                <a:spcPts val="0"/>
              </a:spcBef>
              <a:spcAft>
                <a:spcPts val="0"/>
              </a:spcAft>
              <a:buSzPts val="1600"/>
              <a:buNone/>
            </a:pPr>
            <a:endParaRPr lang="en-US" sz="1800" dirty="0">
              <a:latin typeface="Times New Roman"/>
              <a:ea typeface="Times New Roman"/>
              <a:cs typeface="Times New Roman"/>
              <a:sym typeface="Times New Roman"/>
            </a:endParaRPr>
          </a:p>
          <a:p>
            <a:pPr marL="0" lvl="0" indent="0" algn="just" rtl="0">
              <a:spcBef>
                <a:spcPts val="0"/>
              </a:spcBef>
              <a:spcAft>
                <a:spcPts val="0"/>
              </a:spcAft>
              <a:buSzPts val="1600"/>
              <a:buNone/>
            </a:pPr>
            <a:r>
              <a:rPr lang="en-US" sz="1800" dirty="0">
                <a:latin typeface="Times New Roman"/>
                <a:ea typeface="Times New Roman"/>
                <a:cs typeface="Times New Roman"/>
                <a:sym typeface="Times New Roman"/>
              </a:rPr>
              <a:t>[8] Communications, N.. World health report. 2001.URL:http://www.who.int/whr/2001/media _</a:t>
            </a:r>
            <a:r>
              <a:rPr lang="en-US" sz="1800" dirty="0" err="1">
                <a:latin typeface="Times New Roman"/>
                <a:ea typeface="Times New Roman"/>
                <a:cs typeface="Times New Roman"/>
                <a:sym typeface="Times New Roman"/>
              </a:rPr>
              <a:t>centre</a:t>
            </a:r>
            <a:r>
              <a:rPr lang="en-US" sz="1800" dirty="0">
                <a:latin typeface="Times New Roman"/>
                <a:ea typeface="Times New Roman"/>
                <a:cs typeface="Times New Roman"/>
                <a:sym typeface="Times New Roman"/>
              </a:rPr>
              <a:t>/</a:t>
            </a:r>
            <a:r>
              <a:rPr lang="en-US" sz="1800" dirty="0" err="1">
                <a:latin typeface="Times New Roman"/>
                <a:ea typeface="Times New Roman"/>
                <a:cs typeface="Times New Roman"/>
                <a:sym typeface="Times New Roman"/>
              </a:rPr>
              <a:t>press_release</a:t>
            </a:r>
            <a:r>
              <a:rPr lang="en-US" sz="1800" dirty="0">
                <a:latin typeface="Times New Roman"/>
                <a:ea typeface="Times New Roman"/>
                <a:cs typeface="Times New Roman"/>
                <a:sym typeface="Times New Roman"/>
              </a:rPr>
              <a:t>/ </a:t>
            </a:r>
            <a:r>
              <a:rPr lang="en-US" sz="1800" dirty="0" err="1">
                <a:latin typeface="Times New Roman"/>
                <a:ea typeface="Times New Roman"/>
                <a:cs typeface="Times New Roman"/>
                <a:sym typeface="Times New Roman"/>
              </a:rPr>
              <a:t>en</a:t>
            </a:r>
            <a:r>
              <a:rPr lang="en-US" sz="1800" dirty="0">
                <a:latin typeface="Times New Roman"/>
                <a:ea typeface="Times New Roman"/>
                <a:cs typeface="Times New Roman"/>
                <a:sym typeface="Times New Roman"/>
              </a:rPr>
              <a:t>/. </a:t>
            </a:r>
          </a:p>
          <a:p>
            <a:pPr marL="0" lvl="0" indent="0" algn="just" rtl="0">
              <a:spcBef>
                <a:spcPts val="0"/>
              </a:spcBef>
              <a:spcAft>
                <a:spcPts val="0"/>
              </a:spcAft>
              <a:buSzPts val="1600"/>
              <a:buNone/>
            </a:pPr>
            <a:endParaRPr lang="en-US" sz="1800" dirty="0">
              <a:latin typeface="Times New Roman"/>
              <a:ea typeface="Times New Roman"/>
              <a:cs typeface="Times New Roman"/>
              <a:sym typeface="Times New Roman"/>
            </a:endParaRPr>
          </a:p>
          <a:p>
            <a:pPr marL="0" lvl="0" indent="0" algn="just" rtl="0">
              <a:spcBef>
                <a:spcPts val="0"/>
              </a:spcBef>
              <a:spcAft>
                <a:spcPts val="0"/>
              </a:spcAft>
              <a:buSzPts val="1600"/>
              <a:buNone/>
            </a:pPr>
            <a:r>
              <a:rPr lang="en-US" sz="1800" dirty="0">
                <a:latin typeface="Times New Roman"/>
                <a:ea typeface="Times New Roman"/>
                <a:cs typeface="Times New Roman"/>
                <a:sym typeface="Times New Roman"/>
              </a:rPr>
              <a:t>[9] Liu, D., Ulrich, M.. Listen to your heart: Stress prediction using consumer heart rate sensors 2015;.</a:t>
            </a:r>
          </a:p>
          <a:p>
            <a:pPr marL="0" lvl="0" indent="0" algn="just" rtl="0">
              <a:spcBef>
                <a:spcPts val="0"/>
              </a:spcBef>
              <a:spcAft>
                <a:spcPts val="0"/>
              </a:spcAft>
              <a:buSzPts val="1600"/>
              <a:buNone/>
            </a:pPr>
            <a:endParaRPr lang="en-US" sz="1800" dirty="0">
              <a:latin typeface="Times New Roman"/>
              <a:ea typeface="Times New Roman"/>
              <a:cs typeface="Times New Roman"/>
              <a:sym typeface="Times New Roman"/>
            </a:endParaRPr>
          </a:p>
          <a:p>
            <a:pPr marL="0" lvl="0" indent="0" algn="just" rtl="0">
              <a:spcBef>
                <a:spcPts val="0"/>
              </a:spcBef>
              <a:spcAft>
                <a:spcPts val="0"/>
              </a:spcAft>
              <a:buSzPts val="1800"/>
              <a:buNone/>
            </a:pPr>
            <a:r>
              <a:rPr lang="en-IN" sz="1800" dirty="0">
                <a:latin typeface="Times New Roman"/>
                <a:ea typeface="Times New Roman"/>
                <a:cs typeface="Times New Roman"/>
                <a:sym typeface="Times New Roman"/>
              </a:rPr>
              <a:t>[10] Bakker, J., </a:t>
            </a:r>
            <a:r>
              <a:rPr lang="en-IN" sz="1800" dirty="0" err="1">
                <a:latin typeface="Times New Roman"/>
                <a:ea typeface="Times New Roman"/>
                <a:cs typeface="Times New Roman"/>
                <a:sym typeface="Times New Roman"/>
              </a:rPr>
              <a:t>Holenderski</a:t>
            </a:r>
            <a:r>
              <a:rPr lang="en-IN" sz="1800" dirty="0">
                <a:latin typeface="Times New Roman"/>
                <a:ea typeface="Times New Roman"/>
                <a:cs typeface="Times New Roman"/>
                <a:sym typeface="Times New Roman"/>
              </a:rPr>
              <a:t>, L., </a:t>
            </a:r>
            <a:r>
              <a:rPr lang="en-IN" sz="1800" dirty="0" err="1">
                <a:latin typeface="Times New Roman"/>
                <a:ea typeface="Times New Roman"/>
                <a:cs typeface="Times New Roman"/>
                <a:sym typeface="Times New Roman"/>
              </a:rPr>
              <a:t>Kocielnik</a:t>
            </a:r>
            <a:r>
              <a:rPr lang="en-IN" sz="1800" dirty="0">
                <a:latin typeface="Times New Roman"/>
                <a:ea typeface="Times New Roman"/>
                <a:cs typeface="Times New Roman"/>
                <a:sym typeface="Times New Roman"/>
              </a:rPr>
              <a:t>, R., </a:t>
            </a:r>
            <a:r>
              <a:rPr lang="en-IN" sz="1800" dirty="0" err="1">
                <a:latin typeface="Times New Roman"/>
                <a:ea typeface="Times New Roman"/>
                <a:cs typeface="Times New Roman"/>
                <a:sym typeface="Times New Roman"/>
              </a:rPr>
              <a:t>Pechenizkiy</a:t>
            </a:r>
            <a:r>
              <a:rPr lang="en-IN" sz="1800" dirty="0">
                <a:latin typeface="Times New Roman"/>
                <a:ea typeface="Times New Roman"/>
                <a:cs typeface="Times New Roman"/>
                <a:sym typeface="Times New Roman"/>
              </a:rPr>
              <a:t>, M., Sidorova, N.. </a:t>
            </a:r>
            <a:r>
              <a:rPr lang="en-IN" sz="1800" dirty="0" err="1">
                <a:latin typeface="Times New Roman"/>
                <a:ea typeface="Times New Roman"/>
                <a:cs typeface="Times New Roman"/>
                <a:sym typeface="Times New Roman"/>
              </a:rPr>
              <a:t>Stess</a:t>
            </a:r>
            <a:r>
              <a:rPr lang="en-IN" sz="1800" dirty="0">
                <a:latin typeface="Times New Roman"/>
                <a:ea typeface="Times New Roman"/>
                <a:cs typeface="Times New Roman"/>
                <a:sym typeface="Times New Roman"/>
              </a:rPr>
              <a:t>@ work: From measuring stress to its understanding, prediction and handling with personalized coaching. In: Proceedings of the 2nd ACM SIGHIT International health informatics symposium. ACM; 2012, p. 673–678. </a:t>
            </a:r>
          </a:p>
          <a:p>
            <a:pPr marL="0" lvl="0" indent="0" algn="just" rtl="0">
              <a:spcBef>
                <a:spcPts val="0"/>
              </a:spcBef>
              <a:spcAft>
                <a:spcPts val="0"/>
              </a:spcAft>
              <a:buSzPts val="1800"/>
              <a:buNone/>
            </a:pPr>
            <a:endParaRPr lang="en-IN" sz="1800" dirty="0">
              <a:latin typeface="Times New Roman"/>
              <a:ea typeface="Times New Roman"/>
              <a:cs typeface="Times New Roman"/>
              <a:sym typeface="Times New Roman"/>
            </a:endParaRPr>
          </a:p>
          <a:p>
            <a:pPr marL="0" lvl="0" indent="0" algn="just" rtl="0">
              <a:spcBef>
                <a:spcPts val="0"/>
              </a:spcBef>
              <a:spcAft>
                <a:spcPts val="0"/>
              </a:spcAft>
              <a:buSzPts val="1800"/>
              <a:buNone/>
            </a:pPr>
            <a:r>
              <a:rPr lang="en-IN" sz="1800" dirty="0">
                <a:latin typeface="Times New Roman"/>
                <a:ea typeface="Times New Roman"/>
                <a:cs typeface="Times New Roman"/>
                <a:sym typeface="Times New Roman"/>
              </a:rPr>
              <a:t>[11] Deng, Y., Wu, Z., Chu, C.H., Zhang, Q., Hsu, D.F.. Sensor feature selection and combination for stress identification using combinatorial fusion. International Journal of Advanced Robotic Systems 2013;10(8):306. </a:t>
            </a:r>
          </a:p>
          <a:p>
            <a:pPr marL="0" lvl="0" indent="0" algn="just" rtl="0">
              <a:spcBef>
                <a:spcPts val="0"/>
              </a:spcBef>
              <a:spcAft>
                <a:spcPts val="0"/>
              </a:spcAft>
              <a:buSzPts val="1800"/>
              <a:buNone/>
            </a:pPr>
            <a:endParaRPr lang="en-IN" sz="1800" dirty="0">
              <a:latin typeface="Times New Roman"/>
              <a:ea typeface="Times New Roman"/>
              <a:cs typeface="Times New Roman"/>
              <a:sym typeface="Times New Roman"/>
            </a:endParaRPr>
          </a:p>
          <a:p>
            <a:pPr marL="0" lvl="0" indent="0" algn="just" rtl="0">
              <a:spcBef>
                <a:spcPts val="0"/>
              </a:spcBef>
              <a:spcAft>
                <a:spcPts val="0"/>
              </a:spcAft>
              <a:buSzPts val="1800"/>
              <a:buNone/>
            </a:pPr>
            <a:r>
              <a:rPr lang="en-IN" sz="1800" dirty="0">
                <a:latin typeface="Times New Roman"/>
                <a:ea typeface="Times New Roman"/>
                <a:cs typeface="Times New Roman"/>
                <a:sym typeface="Times New Roman"/>
              </a:rPr>
              <a:t>[12] Ghaderi, A., </a:t>
            </a:r>
            <a:r>
              <a:rPr lang="en-IN" sz="1800" dirty="0" err="1">
                <a:latin typeface="Times New Roman"/>
                <a:ea typeface="Times New Roman"/>
                <a:cs typeface="Times New Roman"/>
                <a:sym typeface="Times New Roman"/>
              </a:rPr>
              <a:t>Frounchi</a:t>
            </a:r>
            <a:r>
              <a:rPr lang="en-IN" sz="1800" dirty="0">
                <a:latin typeface="Times New Roman"/>
                <a:ea typeface="Times New Roman"/>
                <a:cs typeface="Times New Roman"/>
                <a:sym typeface="Times New Roman"/>
              </a:rPr>
              <a:t>, J., </a:t>
            </a:r>
            <a:r>
              <a:rPr lang="en-IN" sz="1800" dirty="0" err="1">
                <a:latin typeface="Times New Roman"/>
                <a:ea typeface="Times New Roman"/>
                <a:cs typeface="Times New Roman"/>
                <a:sym typeface="Times New Roman"/>
              </a:rPr>
              <a:t>Farnam</a:t>
            </a:r>
            <a:r>
              <a:rPr lang="en-IN" sz="1800" dirty="0">
                <a:latin typeface="Times New Roman"/>
                <a:ea typeface="Times New Roman"/>
                <a:cs typeface="Times New Roman"/>
                <a:sym typeface="Times New Roman"/>
              </a:rPr>
              <a:t>, A.. Machine learning-based signal processing using physiological signals for stress detection. In: 2015 22nd Iranian Conference on Biomedical Engineering (ICBME). 2015, p. 93–98. </a:t>
            </a:r>
          </a:p>
          <a:p>
            <a:pPr marL="0" lvl="0" indent="0" algn="just" rtl="0">
              <a:spcBef>
                <a:spcPts val="0"/>
              </a:spcBef>
              <a:spcAft>
                <a:spcPts val="0"/>
              </a:spcAft>
              <a:buSzPts val="1800"/>
              <a:buNone/>
            </a:pPr>
            <a:endParaRPr lang="en-IN" sz="1800" dirty="0">
              <a:latin typeface="Times New Roman"/>
              <a:ea typeface="Times New Roman"/>
              <a:cs typeface="Times New Roman"/>
              <a:sym typeface="Times New Roman"/>
            </a:endParaRPr>
          </a:p>
          <a:p>
            <a:pPr marL="0" lvl="0" indent="0" algn="just" rtl="0">
              <a:spcBef>
                <a:spcPts val="0"/>
              </a:spcBef>
              <a:spcAft>
                <a:spcPts val="0"/>
              </a:spcAft>
              <a:buSzPts val="1800"/>
              <a:buNone/>
            </a:pPr>
            <a:r>
              <a:rPr lang="en-IN" sz="1800" dirty="0">
                <a:latin typeface="Times New Roman"/>
                <a:ea typeface="Times New Roman"/>
                <a:cs typeface="Times New Roman"/>
                <a:sym typeface="Times New Roman"/>
              </a:rPr>
              <a:t> [13] </a:t>
            </a:r>
            <a:r>
              <a:rPr lang="en-IN" sz="1800" dirty="0" err="1">
                <a:latin typeface="Times New Roman"/>
                <a:ea typeface="Times New Roman"/>
                <a:cs typeface="Times New Roman"/>
                <a:sym typeface="Times New Roman"/>
              </a:rPr>
              <a:t>Villarejo</a:t>
            </a:r>
            <a:r>
              <a:rPr lang="en-IN" sz="1800" dirty="0">
                <a:latin typeface="Times New Roman"/>
                <a:ea typeface="Times New Roman"/>
                <a:cs typeface="Times New Roman"/>
                <a:sym typeface="Times New Roman"/>
              </a:rPr>
              <a:t>, M.V., </a:t>
            </a:r>
            <a:r>
              <a:rPr lang="en-IN" sz="1800" dirty="0" err="1">
                <a:latin typeface="Times New Roman"/>
                <a:ea typeface="Times New Roman"/>
                <a:cs typeface="Times New Roman"/>
                <a:sym typeface="Times New Roman"/>
              </a:rPr>
              <a:t>Zapirain</a:t>
            </a:r>
            <a:r>
              <a:rPr lang="en-IN" sz="1800" dirty="0">
                <a:latin typeface="Times New Roman"/>
                <a:ea typeface="Times New Roman"/>
                <a:cs typeface="Times New Roman"/>
                <a:sym typeface="Times New Roman"/>
              </a:rPr>
              <a:t>, B.G., </a:t>
            </a:r>
            <a:r>
              <a:rPr lang="en-IN" sz="1800" dirty="0" err="1">
                <a:latin typeface="Times New Roman"/>
                <a:ea typeface="Times New Roman"/>
                <a:cs typeface="Times New Roman"/>
                <a:sym typeface="Times New Roman"/>
              </a:rPr>
              <a:t>Zorrilla</a:t>
            </a:r>
            <a:r>
              <a:rPr lang="en-IN" sz="1800" dirty="0">
                <a:latin typeface="Times New Roman"/>
                <a:ea typeface="Times New Roman"/>
                <a:cs typeface="Times New Roman"/>
                <a:sym typeface="Times New Roman"/>
              </a:rPr>
              <a:t>, A.M.. A stress sensor based on galvanic skin response (</a:t>
            </a:r>
            <a:r>
              <a:rPr lang="en-IN" sz="1800" dirty="0" err="1">
                <a:latin typeface="Times New Roman"/>
                <a:ea typeface="Times New Roman"/>
                <a:cs typeface="Times New Roman"/>
                <a:sym typeface="Times New Roman"/>
              </a:rPr>
              <a:t>gsr</a:t>
            </a:r>
            <a:r>
              <a:rPr lang="en-IN" sz="1800" dirty="0">
                <a:latin typeface="Times New Roman"/>
                <a:ea typeface="Times New Roman"/>
                <a:cs typeface="Times New Roman"/>
                <a:sym typeface="Times New Roman"/>
              </a:rPr>
              <a:t>) controlled by </a:t>
            </a:r>
            <a:r>
              <a:rPr lang="en-IN" sz="1800" dirty="0" err="1">
                <a:latin typeface="Times New Roman"/>
                <a:ea typeface="Times New Roman"/>
                <a:cs typeface="Times New Roman"/>
                <a:sym typeface="Times New Roman"/>
              </a:rPr>
              <a:t>zigbee</a:t>
            </a:r>
            <a:r>
              <a:rPr lang="en-IN" sz="1800" dirty="0">
                <a:latin typeface="Times New Roman"/>
                <a:ea typeface="Times New Roman"/>
                <a:cs typeface="Times New Roman"/>
                <a:sym typeface="Times New Roman"/>
              </a:rPr>
              <a:t>. Sensors 2012; 12(5):6075– 6101. </a:t>
            </a:r>
          </a:p>
          <a:p>
            <a:pPr marL="0" lvl="0" indent="0" algn="just" rtl="0">
              <a:spcBef>
                <a:spcPts val="0"/>
              </a:spcBef>
              <a:spcAft>
                <a:spcPts val="0"/>
              </a:spcAft>
              <a:buSzPts val="1600"/>
              <a:buNone/>
            </a:pPr>
            <a:endParaRPr sz="1800" dirty="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9"/>
          <p:cNvSpPr txBox="1">
            <a:spLocks noGrp="1"/>
          </p:cNvSpPr>
          <p:nvPr>
            <p:ph idx="1"/>
          </p:nvPr>
        </p:nvSpPr>
        <p:spPr>
          <a:xfrm>
            <a:off x="750734" y="1089496"/>
            <a:ext cx="10972800" cy="4308566"/>
          </a:xfrm>
          <a:prstGeom prst="rect">
            <a:avLst/>
          </a:prstGeom>
          <a:noFill/>
          <a:ln>
            <a:noFill/>
          </a:ln>
        </p:spPr>
        <p:txBody>
          <a:bodyPr spcFirstLastPara="1" wrap="square" lIns="0" tIns="45700" rIns="0" bIns="45700" anchor="t" anchorCtr="0">
            <a:noAutofit/>
          </a:bodyPr>
          <a:lstStyle/>
          <a:p>
            <a:pPr marL="0" lvl="0" indent="0" algn="just" rtl="0">
              <a:spcBef>
                <a:spcPts val="0"/>
              </a:spcBef>
              <a:spcAft>
                <a:spcPts val="0"/>
              </a:spcAft>
              <a:buSzPts val="1600"/>
              <a:buNone/>
            </a:pPr>
            <a:r>
              <a:rPr lang="en-IN" sz="1800" dirty="0">
                <a:latin typeface="Times New Roman" panose="02020603050405020304" pitchFamily="18" charset="0"/>
                <a:cs typeface="Times New Roman" panose="02020603050405020304" pitchFamily="18" charset="0"/>
              </a:rPr>
              <a:t>[14] Nakashima, Y., Kim, J., </a:t>
            </a:r>
            <a:r>
              <a:rPr lang="en-IN" sz="1800" dirty="0" err="1">
                <a:latin typeface="Times New Roman" panose="02020603050405020304" pitchFamily="18" charset="0"/>
                <a:cs typeface="Times New Roman" panose="02020603050405020304" pitchFamily="18" charset="0"/>
              </a:rPr>
              <a:t>Flutura</a:t>
            </a:r>
            <a:r>
              <a:rPr lang="en-IN" sz="1800" dirty="0">
                <a:latin typeface="Times New Roman" panose="02020603050405020304" pitchFamily="18" charset="0"/>
                <a:cs typeface="Times New Roman" panose="02020603050405020304" pitchFamily="18" charset="0"/>
              </a:rPr>
              <a:t>, S., </a:t>
            </a:r>
            <a:r>
              <a:rPr lang="en-IN" sz="1800" dirty="0" err="1">
                <a:latin typeface="Times New Roman" panose="02020603050405020304" pitchFamily="18" charset="0"/>
                <a:cs typeface="Times New Roman" panose="02020603050405020304" pitchFamily="18" charset="0"/>
              </a:rPr>
              <a:t>Seiderer</a:t>
            </a:r>
            <a:r>
              <a:rPr lang="en-IN" sz="1800" dirty="0">
                <a:latin typeface="Times New Roman" panose="02020603050405020304" pitchFamily="18" charset="0"/>
                <a:cs typeface="Times New Roman" panose="02020603050405020304" pitchFamily="18" charset="0"/>
              </a:rPr>
              <a:t>, A., Andre, E.. Stress recognition in daily work. In: ´ International Symposium on Pervasive Computing Paradigms for Mental Health. Springer; 2015, p. 23– 33.</a:t>
            </a:r>
          </a:p>
          <a:p>
            <a:pPr marL="0" lvl="0" indent="0" algn="just" rtl="0">
              <a:spcBef>
                <a:spcPts val="0"/>
              </a:spcBef>
              <a:spcAft>
                <a:spcPts val="0"/>
              </a:spcAft>
              <a:buSzPts val="1600"/>
              <a:buNone/>
            </a:pPr>
            <a:endParaRPr lang="en-IN" sz="18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SzPts val="1600"/>
              <a:buNone/>
            </a:pPr>
            <a:r>
              <a:rPr lang="en-IN" sz="1800" dirty="0">
                <a:latin typeface="Times New Roman" panose="02020603050405020304" pitchFamily="18" charset="0"/>
                <a:cs typeface="Times New Roman" panose="02020603050405020304" pitchFamily="18" charset="0"/>
              </a:rPr>
              <a:t>[15] Xu, Q., </a:t>
            </a:r>
            <a:r>
              <a:rPr lang="en-IN" sz="1800" dirty="0" err="1">
                <a:latin typeface="Times New Roman" panose="02020603050405020304" pitchFamily="18" charset="0"/>
                <a:cs typeface="Times New Roman" panose="02020603050405020304" pitchFamily="18" charset="0"/>
              </a:rPr>
              <a:t>Nwe</a:t>
            </a:r>
            <a:r>
              <a:rPr lang="en-IN" sz="1800" dirty="0">
                <a:latin typeface="Times New Roman" panose="02020603050405020304" pitchFamily="18" charset="0"/>
                <a:cs typeface="Times New Roman" panose="02020603050405020304" pitchFamily="18" charset="0"/>
              </a:rPr>
              <a:t>, T.L., Guan, C.. Cluster-based analysis for personalized stress evaluation using physiological signals. biomedical and 2015;19(1):275–281. IEEE health journal of informatics www.jespublication.com</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TM03090434[[fn=Wood Type]]</Template>
  <TotalTime>393</TotalTime>
  <Words>2447</Words>
  <Application>Microsoft Office PowerPoint</Application>
  <PresentationFormat>Widescreen</PresentationFormat>
  <Paragraphs>169</Paragraphs>
  <Slides>19</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Google Sans</vt:lpstr>
      <vt:lpstr>Noto Sans Symbols</vt:lpstr>
      <vt:lpstr>Rockwell</vt:lpstr>
      <vt:lpstr>Rockwell Condensed</vt:lpstr>
      <vt:lpstr>Times New Roman</vt:lpstr>
      <vt:lpstr>Wingdings</vt:lpstr>
      <vt:lpstr>Wood Type</vt:lpstr>
      <vt:lpstr>Smart Low-Light Image Enhancement For   Emotion Detection</vt:lpstr>
      <vt:lpstr>CONTENT</vt:lpstr>
      <vt:lpstr>OBJECTIVE</vt:lpstr>
      <vt:lpstr>ABSTRACT</vt:lpstr>
      <vt:lpstr>INTRODUCTION</vt:lpstr>
      <vt:lpstr>LITERATURE SURVEY</vt:lpstr>
      <vt:lpstr>PowerPoint Presentation</vt:lpstr>
      <vt:lpstr>PowerPoint Presentation</vt:lpstr>
      <vt:lpstr>BlOCK DIAGRAM</vt:lpstr>
      <vt:lpstr>PROBLEM STATEMENT</vt:lpstr>
      <vt:lpstr>Software used</vt:lpstr>
      <vt:lpstr>Applications</vt:lpstr>
      <vt:lpstr>METHODOLOGY</vt:lpstr>
      <vt:lpstr>PowerPoint Presentation</vt:lpstr>
      <vt:lpstr>FACIAL EXPRESSIONS</vt:lpstr>
      <vt:lpstr>CONCLUSION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BASED  DIABETIC RETINOPATHY MONITORING SYSTEM</dc:title>
  <dc:creator>DELL</dc:creator>
  <cp:lastModifiedBy>sudheer yanamala</cp:lastModifiedBy>
  <cp:revision>42</cp:revision>
  <dcterms:created xsi:type="dcterms:W3CDTF">2022-01-04T13:33:08Z</dcterms:created>
  <dcterms:modified xsi:type="dcterms:W3CDTF">2024-12-22T07:19:09Z</dcterms:modified>
</cp:coreProperties>
</file>